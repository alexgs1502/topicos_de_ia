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slideLayouts/slideLayout7.xml" ContentType="application/vnd.openxmlformats-officedocument.presentationml.slideLayou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embeddedFontLst>
    <p:embeddedFont>
      <p:font typeface="DM Sans" pitchFamily="2" charset="0"/>
      <p:regular r:id="rId14"/>
      <p:bold r:id="rId15"/>
      <p:italic r:id="rId16"/>
      <p:boldItalic r:id="rId17"/>
    </p:embeddedFont>
    <p:embeddedFont>
      <p:font typeface="Merriweather" panose="00000500000000000000" pitchFamily="2" charset="0"/>
      <p:regular r:id="rId18"/>
      <p:bold r:id="rId19"/>
      <p:italic r:id="rId20"/>
      <p:boldItalic r:id="rId2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8EE61753-11B9-4DB4-906E-3513AC7A5C12}">
  <a:tblStyle styleId="{8EE61753-11B9-4DB4-906E-3513AC7A5C12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00" d="100"/>
          <a:sy n="100" d="100"/>
        </p:scale>
        <p:origin x="954" y="2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customXml" Target="../customXml/item1.xml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viewProps" Target="viewProps.xml"/><Relationship Id="rId28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presProps" Target="presProps.xml"/><Relationship Id="rId27" Type="http://schemas.openxmlformats.org/officeDocument/2006/relationships/customXml" Target="../customXml/item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Relationship Id="rId9" Type="http://schemas.openxmlformats.org/officeDocument/2006/relationships/image" Target="../media/image26.jpe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1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.png"/><Relationship Id="rId9" Type="http://schemas.openxmlformats.org/officeDocument/2006/relationships/image" Target="../media/image3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image" Target="../media/image1.png"/><Relationship Id="rId7" Type="http://schemas.openxmlformats.org/officeDocument/2006/relationships/image" Target="../media/image37.png"/><Relationship Id="rId12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6.png"/><Relationship Id="rId11" Type="http://schemas.openxmlformats.org/officeDocument/2006/relationships/image" Target="../media/image41.png"/><Relationship Id="rId5" Type="http://schemas.openxmlformats.org/officeDocument/2006/relationships/image" Target="../media/image35.png"/><Relationship Id="rId10" Type="http://schemas.openxmlformats.org/officeDocument/2006/relationships/image" Target="../media/image40.png"/><Relationship Id="rId4" Type="http://schemas.openxmlformats.org/officeDocument/2006/relationships/image" Target="../media/image34.png"/><Relationship Id="rId9" Type="http://schemas.openxmlformats.org/officeDocument/2006/relationships/image" Target="../media/image3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1595437" y="1228873"/>
            <a:ext cx="9001125" cy="2262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Predicción de Temperaturas Extremas en Culiacán</a:t>
            </a:r>
            <a:endParaRPr/>
          </a:p>
        </p:txBody>
      </p:sp>
      <p:sp>
        <p:nvSpPr>
          <p:cNvPr id="86" name="Google Shape;86;p13"/>
          <p:cNvSpPr/>
          <p:nvPr/>
        </p:nvSpPr>
        <p:spPr>
          <a:xfrm>
            <a:off x="5381625" y="3777406"/>
            <a:ext cx="1428750" cy="3810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 txBox="1"/>
          <p:nvPr/>
        </p:nvSpPr>
        <p:spPr>
          <a:xfrm>
            <a:off x="1809750" y="4101256"/>
            <a:ext cx="8572500" cy="4266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Modelo de Inteligencia Artificial y Análisis Espacial (QGIS)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809750" y="4908946"/>
            <a:ext cx="8572500" cy="15050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Instituto Tecnológico de Culiacán | </a:t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Tópicos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de IA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 dirty="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Autores: </a:t>
            </a:r>
            <a:br>
              <a:rPr lang="en-US" sz="1350" b="0" i="0" u="none" strike="noStrike" cap="none" dirty="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</a:br>
            <a:r>
              <a:rPr lang="en-US" sz="1350" b="0" i="0" u="none" strike="noStrike" cap="none" dirty="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Edgar Alexis Gutiérrez Sanchez</a:t>
            </a: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Linda Esmeralda Alvarado Hernandez</a:t>
            </a:r>
            <a:br>
              <a:rPr lang="en-US" sz="1350" b="0" i="0" u="none" strike="noStrike" cap="none" dirty="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</a:br>
            <a:endParaRPr lang="en-US" sz="1350" b="0" i="0" u="none" strike="noStrike" cap="none" dirty="0">
              <a:solidFill>
                <a:srgbClr val="94A3B8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00250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4"/>
          <p:cNvSpPr txBox="1"/>
          <p:nvPr/>
        </p:nvSpPr>
        <p:spPr>
          <a:xfrm>
            <a:off x="904874" y="1921668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Impacto del </a:t>
            </a:r>
            <a:r>
              <a:rPr lang="en-US" sz="1500" b="1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calor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Afectaciones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a la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salud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pública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y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elevado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consumo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energía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eléctrica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por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refrigeración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sp>
        <p:nvSpPr>
          <p:cNvPr id="96" name="Google Shape;96;p14"/>
          <p:cNvSpPr txBox="1"/>
          <p:nvPr/>
        </p:nvSpPr>
        <p:spPr>
          <a:xfrm>
            <a:off x="904873" y="3131344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Microclimas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1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urbanos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La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temperatura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no es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uniforme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en Culiacán. El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concreto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y la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falta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de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vegetación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crean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zonas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más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calientes.</a:t>
            </a:r>
            <a:endParaRPr dirty="0"/>
          </a:p>
        </p:txBody>
      </p:sp>
      <p:sp>
        <p:nvSpPr>
          <p:cNvPr id="97" name="Google Shape;97;p14"/>
          <p:cNvSpPr txBox="1"/>
          <p:nvPr/>
        </p:nvSpPr>
        <p:spPr>
          <a:xfrm>
            <a:off x="904873" y="4326733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Solución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1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propuesta</a:t>
            </a:r>
            <a:r>
              <a:rPr lang="en-US" sz="1500" b="1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: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Uso de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herramientas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tecnológicas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de bajo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costo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(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satélites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e IA) para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identificar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y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predecir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estas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zonas </a:t>
            </a:r>
            <a:r>
              <a:rPr lang="en-US" sz="1500" b="0" i="0" u="none" strike="noStrike" cap="none" dirty="0" err="1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vulnerables</a:t>
            </a:r>
            <a:r>
              <a:rPr lang="en-US" sz="1500" b="0" i="0" u="none" strike="noStrike" cap="none" dirty="0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.</a:t>
            </a:r>
            <a:endParaRPr dirty="0"/>
          </a:p>
        </p:txBody>
      </p:sp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09775"/>
            <a:ext cx="531495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14349" y="2062162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6250" y="3214687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57211" y="4414836"/>
            <a:ext cx="22860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76250" y="476250"/>
            <a:ext cx="11715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El Problema: Islas de Calor Urbano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261294"/>
            <a:ext cx="3555950" cy="3287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261294"/>
            <a:ext cx="3555950" cy="3287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9650" y="2261294"/>
            <a:ext cx="3555950" cy="328791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73150" y="265181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5"/>
          <p:cNvSpPr txBox="1"/>
          <p:nvPr/>
        </p:nvSpPr>
        <p:spPr>
          <a:xfrm>
            <a:off x="1419046" y="3604319"/>
            <a:ext cx="167020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Recopilación</a:t>
            </a:r>
            <a:endParaRPr/>
          </a:p>
        </p:txBody>
      </p:sp>
      <p:sp>
        <p:nvSpPr>
          <p:cNvPr id="113" name="Google Shape;113;p15"/>
          <p:cNvSpPr txBox="1"/>
          <p:nvPr/>
        </p:nvSpPr>
        <p:spPr>
          <a:xfrm>
            <a:off x="771525" y="4061519"/>
            <a:ext cx="29654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Extraer datos históricos de clima de Open-Meteo y CONAGUA para construir un dataset robusto de Culiacán.</a:t>
            </a:r>
            <a:endParaRPr/>
          </a:p>
        </p:txBody>
      </p:sp>
      <p:pic>
        <p:nvPicPr>
          <p:cNvPr id="114" name="Google Shape;11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4851" y="265181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5"/>
          <p:cNvSpPr txBox="1"/>
          <p:nvPr/>
        </p:nvSpPr>
        <p:spPr>
          <a:xfrm>
            <a:off x="4770685" y="3604319"/>
            <a:ext cx="2650331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Modelado Predictivo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4613225" y="4061519"/>
            <a:ext cx="296540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Entrenar algoritmos de Machine Learning para pronosticar las temperaturas máximas a partir de variables climáticas.</a:t>
            </a:r>
            <a:endParaRPr/>
          </a:p>
        </p:txBody>
      </p:sp>
      <p:pic>
        <p:nvPicPr>
          <p:cNvPr id="117" name="Google Shape;117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56551" y="2651819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5"/>
          <p:cNvSpPr txBox="1"/>
          <p:nvPr/>
        </p:nvSpPr>
        <p:spPr>
          <a:xfrm>
            <a:off x="8857416" y="3604319"/>
            <a:ext cx="2160270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Análisis Espacial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8454925" y="4061519"/>
            <a:ext cx="296540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Integrar predicciones con imágenes Landsat en QGIS para crear mapas visuales de riesgo térmico por zonas.</a:t>
            </a:r>
            <a:endParaRPr/>
          </a:p>
        </p:txBody>
      </p:sp>
      <p:pic>
        <p:nvPicPr>
          <p:cNvPr id="120" name="Google Shape;120;p15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101750" y="2861369"/>
            <a:ext cx="3048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p15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924401" y="2861369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742289" y="2861369"/>
            <a:ext cx="39052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476250" y="476250"/>
            <a:ext cx="11715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Objetivos Principales del Proyecto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29" name="Google Shape;129;p16"/>
          <p:cNvGraphicFramePr/>
          <p:nvPr>
            <p:extLst>
              <p:ext uri="{D42A27DB-BD31-4B8C-83A1-F6EECF244321}">
                <p14:modId xmlns:p14="http://schemas.microsoft.com/office/powerpoint/2010/main" val="190215886"/>
              </p:ext>
            </p:extLst>
          </p:nvPr>
        </p:nvGraphicFramePr>
        <p:xfrm>
          <a:off x="476250" y="2100262"/>
          <a:ext cx="11239475" cy="360992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78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8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12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1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38BDF8"/>
                          </a:solidFill>
                          <a:sym typeface="DM Sans"/>
                        </a:rPr>
                        <a:t>Capa / Componente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38BDF8"/>
                          </a:solidFill>
                          <a:sym typeface="DM Sans"/>
                        </a:rPr>
                        <a:t>Tecnología Principal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38BDF8"/>
                          </a:solidFill>
                          <a:sym typeface="DM Sans"/>
                        </a:rPr>
                        <a:t>Función en el Proyecto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1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CBD5E1"/>
                          </a:solidFill>
                          <a:sym typeface="DM Sans"/>
                        </a:rPr>
                        <a:t>Adquisición de Datos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CBD5E1"/>
                          </a:solidFill>
                          <a:sym typeface="DM Sans"/>
                        </a:rPr>
                        <a:t>Open-Meteo API / CONAGUA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CBD5E1"/>
                          </a:solidFill>
                          <a:sym typeface="DM Sans"/>
                        </a:rPr>
                        <a:t>Series de tiempo históricas (Temp, Humedad, Viento).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1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CBD5E1"/>
                          </a:solidFill>
                          <a:sym typeface="DM Sans"/>
                        </a:rPr>
                        <a:t>Procesamiento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CBD5E1"/>
                          </a:solidFill>
                          <a:sym typeface="DM Sans"/>
                        </a:rPr>
                        <a:t>Python (Pandas, NumPy)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CBD5E1"/>
                          </a:solidFill>
                          <a:sym typeface="DM Sans"/>
                        </a:rPr>
                        <a:t>Limpieza de datos y partición de entrenamiento/prueba (80/20).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1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CBD5E1"/>
                          </a:solidFill>
                          <a:sym typeface="DM Sans"/>
                        </a:rPr>
                        <a:t>Machine Learning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CBD5E1"/>
                          </a:solidFill>
                          <a:sym typeface="DM Sans"/>
                        </a:rPr>
                        <a:t>Scikit-learn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CBD5E1"/>
                          </a:solidFill>
                          <a:sym typeface="DM Sans"/>
                        </a:rPr>
                        <a:t>Modelos: Regresión Lineal y Random Forest.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16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CBD5E1"/>
                          </a:solidFill>
                          <a:sym typeface="DM Sans"/>
                        </a:rPr>
                        <a:t>Datos Geoespaciales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CBD5E1"/>
                          </a:solidFill>
                          <a:sym typeface="DM Sans"/>
                        </a:rPr>
                        <a:t>Google Earth Engine (Landsat)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CBD5E1"/>
                          </a:solidFill>
                          <a:sym typeface="DM Sans"/>
                        </a:rPr>
                        <a:t>Extracción de Temperatura Superficial Terrestre (TST).</a:t>
                      </a:r>
                      <a:endParaRPr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1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1" u="none" strike="noStrike" cap="none">
                          <a:solidFill>
                            <a:srgbClr val="CBD5E1"/>
                          </a:solidFill>
                          <a:sym typeface="DM Sans"/>
                        </a:rPr>
                        <a:t>Visualización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>
                          <a:solidFill>
                            <a:srgbClr val="CBD5E1"/>
                          </a:solidFill>
                          <a:sym typeface="DM Sans"/>
                        </a:rPr>
                        <a:t>QGIS</a:t>
                      </a:r>
                      <a:endParaRPr/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500" b="0" u="none" strike="noStrike" cap="none" dirty="0">
                          <a:solidFill>
                            <a:srgbClr val="CBD5E1"/>
                          </a:solidFill>
                          <a:sym typeface="DM Sans"/>
                        </a:rPr>
                        <a:t>Generación de </a:t>
                      </a:r>
                      <a:r>
                        <a:rPr lang="en-US" sz="1500" b="0" u="none" strike="noStrike" cap="none" dirty="0" err="1">
                          <a:solidFill>
                            <a:srgbClr val="CBD5E1"/>
                          </a:solidFill>
                          <a:sym typeface="DM Sans"/>
                        </a:rPr>
                        <a:t>mapas</a:t>
                      </a:r>
                      <a:r>
                        <a:rPr lang="en-US" sz="1500" b="0" u="none" strike="noStrike" cap="none" dirty="0">
                          <a:solidFill>
                            <a:srgbClr val="CBD5E1"/>
                          </a:solidFill>
                          <a:sym typeface="DM Sans"/>
                        </a:rPr>
                        <a:t> </a:t>
                      </a:r>
                      <a:r>
                        <a:rPr lang="en-US" sz="1500" b="0" u="none" strike="noStrike" cap="none" dirty="0" err="1">
                          <a:solidFill>
                            <a:srgbClr val="CBD5E1"/>
                          </a:solidFill>
                          <a:sym typeface="DM Sans"/>
                        </a:rPr>
                        <a:t>temáticos</a:t>
                      </a:r>
                      <a:r>
                        <a:rPr lang="en-US" sz="1500" b="0" u="none" strike="noStrike" cap="none" dirty="0">
                          <a:solidFill>
                            <a:srgbClr val="CBD5E1"/>
                          </a:solidFill>
                          <a:sym typeface="DM Sans"/>
                        </a:rPr>
                        <a:t> (</a:t>
                      </a:r>
                      <a:r>
                        <a:rPr lang="en-US" sz="1500" b="0" u="none" strike="noStrike" cap="none" dirty="0" err="1">
                          <a:solidFill>
                            <a:srgbClr val="CBD5E1"/>
                          </a:solidFill>
                          <a:sym typeface="DM Sans"/>
                        </a:rPr>
                        <a:t>capas</a:t>
                      </a:r>
                      <a:r>
                        <a:rPr lang="en-US" sz="1500" b="0" u="none" strike="noStrike" cap="none" dirty="0">
                          <a:solidFill>
                            <a:srgbClr val="CBD5E1"/>
                          </a:solidFill>
                          <a:sym typeface="DM Sans"/>
                        </a:rPr>
                        <a:t> </a:t>
                      </a:r>
                      <a:r>
                        <a:rPr lang="en-US" sz="1500" b="0" u="none" strike="noStrike" cap="none" dirty="0" err="1">
                          <a:solidFill>
                            <a:srgbClr val="CBD5E1"/>
                          </a:solidFill>
                          <a:sym typeface="DM Sans"/>
                        </a:rPr>
                        <a:t>ráster</a:t>
                      </a:r>
                      <a:r>
                        <a:rPr lang="en-US" sz="1500" b="0" u="none" strike="noStrike" cap="none" dirty="0">
                          <a:solidFill>
                            <a:srgbClr val="CBD5E1"/>
                          </a:solidFill>
                          <a:sym typeface="DM Sans"/>
                        </a:rPr>
                        <a:t>).</a:t>
                      </a:r>
                      <a:endParaRPr dirty="0"/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30" name="Google Shape;130;p16"/>
          <p:cNvSpPr/>
          <p:nvPr/>
        </p:nvSpPr>
        <p:spPr>
          <a:xfrm>
            <a:off x="476250" y="2681287"/>
            <a:ext cx="2278409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6"/>
          <p:cNvSpPr/>
          <p:nvPr/>
        </p:nvSpPr>
        <p:spPr>
          <a:xfrm>
            <a:off x="2754659" y="2681287"/>
            <a:ext cx="2948582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6"/>
          <p:cNvSpPr/>
          <p:nvPr/>
        </p:nvSpPr>
        <p:spPr>
          <a:xfrm>
            <a:off x="5703242" y="2681287"/>
            <a:ext cx="6012507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16"/>
          <p:cNvSpPr/>
          <p:nvPr/>
        </p:nvSpPr>
        <p:spPr>
          <a:xfrm>
            <a:off x="476250" y="3295650"/>
            <a:ext cx="227840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6"/>
          <p:cNvSpPr/>
          <p:nvPr/>
        </p:nvSpPr>
        <p:spPr>
          <a:xfrm>
            <a:off x="2754659" y="3295650"/>
            <a:ext cx="294858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16"/>
          <p:cNvSpPr/>
          <p:nvPr/>
        </p:nvSpPr>
        <p:spPr>
          <a:xfrm>
            <a:off x="5703242" y="3295650"/>
            <a:ext cx="60125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16"/>
          <p:cNvSpPr/>
          <p:nvPr/>
        </p:nvSpPr>
        <p:spPr>
          <a:xfrm>
            <a:off x="476250" y="3895725"/>
            <a:ext cx="227840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16"/>
          <p:cNvSpPr/>
          <p:nvPr/>
        </p:nvSpPr>
        <p:spPr>
          <a:xfrm>
            <a:off x="2754659" y="3895725"/>
            <a:ext cx="294858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16"/>
          <p:cNvSpPr/>
          <p:nvPr/>
        </p:nvSpPr>
        <p:spPr>
          <a:xfrm>
            <a:off x="5703242" y="3895725"/>
            <a:ext cx="60125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16"/>
          <p:cNvSpPr/>
          <p:nvPr/>
        </p:nvSpPr>
        <p:spPr>
          <a:xfrm>
            <a:off x="476250" y="4495800"/>
            <a:ext cx="227840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16"/>
          <p:cNvSpPr/>
          <p:nvPr/>
        </p:nvSpPr>
        <p:spPr>
          <a:xfrm>
            <a:off x="2754659" y="4495800"/>
            <a:ext cx="294858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16"/>
          <p:cNvSpPr/>
          <p:nvPr/>
        </p:nvSpPr>
        <p:spPr>
          <a:xfrm>
            <a:off x="5703242" y="4495800"/>
            <a:ext cx="60125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476250" y="5095875"/>
            <a:ext cx="227840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2754659" y="5095875"/>
            <a:ext cx="294858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5703242" y="5095875"/>
            <a:ext cx="60125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476250" y="5695950"/>
            <a:ext cx="2278409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2754659" y="5695950"/>
            <a:ext cx="2948582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5703242" y="5695950"/>
            <a:ext cx="6012507" cy="9525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 txBox="1"/>
          <p:nvPr/>
        </p:nvSpPr>
        <p:spPr>
          <a:xfrm>
            <a:off x="476250" y="476250"/>
            <a:ext cx="11715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Arquitectura y Tecnologías Empleadas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00250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904875" y="1600200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Recopilación: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Extracción de series históricas diarias y variables climáticas a través de Open-Meteo y CONAGUA.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904875" y="2752725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Limpieza y Preparación: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Uso intensivo de Pandas y NumPy para eliminar registros duplicados e imputar valores faltantes.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904875" y="3905250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Entrenamiento: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División estandarizada (80% entrenamiento / 20% validación) para asegurar la generalización del modelo.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904875" y="5057775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Integración Geoespacial: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Asociación de las predicciones con coordenadas específicas para su exportación final a QGIS.</a:t>
            </a:r>
            <a:endParaRPr/>
          </a:p>
        </p:txBody>
      </p:sp>
      <p:pic>
        <p:nvPicPr>
          <p:cNvPr id="159" name="Google Shape;159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09775"/>
            <a:ext cx="531495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" name="Google Shape;160;p1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76250" y="163830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1" name="Google Shape;161;p1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6250" y="279082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250" y="394335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6250" y="5095875"/>
            <a:ext cx="1714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476250" y="476250"/>
            <a:ext cx="11715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Flujo de Trabajo y Procesamiento de Datos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" name="Google Shape;169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49" y="4753943"/>
            <a:ext cx="5334000" cy="16027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81750" y="2000101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18"/>
          <p:cNvSpPr txBox="1"/>
          <p:nvPr/>
        </p:nvSpPr>
        <p:spPr>
          <a:xfrm>
            <a:off x="476250" y="1951285"/>
            <a:ext cx="5334000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Se compararán dos algoritmos para predecir la temperatura máxima: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762000" y="5800875"/>
            <a:ext cx="4743450" cy="243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 err="1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Evaluación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principal (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Raíz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del Error </a:t>
            </a:r>
            <a:r>
              <a:rPr lang="en-US" sz="1200" b="0" i="0" u="none" strike="noStrike" cap="none" dirty="0" err="1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Cuadrático</a:t>
            </a:r>
            <a:r>
              <a:rPr lang="en-US" sz="1200" b="0" i="0" u="none" strike="noStrike" cap="none" dirty="0">
                <a:solidFill>
                  <a:srgbClr val="94A3B8"/>
                </a:solidFill>
                <a:latin typeface="DM Sans"/>
                <a:ea typeface="DM Sans"/>
                <a:cs typeface="DM Sans"/>
                <a:sym typeface="DM Sans"/>
              </a:rPr>
              <a:t> Medio)</a:t>
            </a:r>
            <a:endParaRPr dirty="0"/>
          </a:p>
        </p:txBody>
      </p:sp>
      <p:sp>
        <p:nvSpPr>
          <p:cNvPr id="175" name="Google Shape;175;p18"/>
          <p:cNvSpPr txBox="1"/>
          <p:nvPr/>
        </p:nvSpPr>
        <p:spPr>
          <a:xfrm>
            <a:off x="904875" y="2751385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Regresión Lineal: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Modelo base (baseline), rápido e interpretable.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904875" y="3599110"/>
            <a:ext cx="4905375" cy="6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Random Forest: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Ensamble de árboles, ideal para capturar relaciones no lineales complejas entre el clima.</a:t>
            </a:r>
            <a:endParaRPr/>
          </a:p>
        </p:txBody>
      </p:sp>
      <p:pic>
        <p:nvPicPr>
          <p:cNvPr id="177" name="Google Shape;17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906787" y="5105959"/>
            <a:ext cx="2255639" cy="520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6250" y="2789485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250" y="3637210"/>
            <a:ext cx="2857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8"/>
          <p:cNvSpPr txBox="1"/>
          <p:nvPr/>
        </p:nvSpPr>
        <p:spPr>
          <a:xfrm>
            <a:off x="476250" y="476250"/>
            <a:ext cx="11715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Enfoque de Machine Learning</a:t>
            </a:r>
            <a:endParaRPr/>
          </a:p>
        </p:txBody>
      </p:sp>
      <p:pic>
        <p:nvPicPr>
          <p:cNvPr id="6" name="Imagen 5" descr="talentstreet | equipos&amp;talento">
            <a:extLst>
              <a:ext uri="{FF2B5EF4-FFF2-40B4-BE49-F238E27FC236}">
                <a16:creationId xmlns:a16="http://schemas.microsoft.com/office/drawing/2014/main" id="{76AC93D8-4E50-D69A-891F-AC6FC3126B5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723041" y="2047086"/>
            <a:ext cx="4651417" cy="376301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2000250"/>
            <a:ext cx="5334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19"/>
          <p:cNvSpPr txBox="1"/>
          <p:nvPr/>
        </p:nvSpPr>
        <p:spPr>
          <a:xfrm>
            <a:off x="476250" y="2024062"/>
            <a:ext cx="53340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Evaluación rigurosa de los modelos predictivos:</a:t>
            </a:r>
            <a:endParaRPr/>
          </a:p>
        </p:txBody>
      </p:sp>
      <p:sp>
        <p:nvSpPr>
          <p:cNvPr id="188" name="Google Shape;188;p19"/>
          <p:cNvSpPr txBox="1"/>
          <p:nvPr/>
        </p:nvSpPr>
        <p:spPr>
          <a:xfrm>
            <a:off x="904875" y="2519362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Implementación Base: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Desarrollo íntegro en Python empleando el framework de scikit-learn para el modelado algorítmico.</a:t>
            </a:r>
            <a:endParaRPr/>
          </a:p>
        </p:txBody>
      </p:sp>
      <p:sp>
        <p:nvSpPr>
          <p:cNvPr id="189" name="Google Shape;189;p19"/>
          <p:cNvSpPr txBox="1"/>
          <p:nvPr/>
        </p:nvSpPr>
        <p:spPr>
          <a:xfrm>
            <a:off x="904875" y="3671887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Métricas de Regresión: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Se utilizarán MAE (Error Absoluto Medio), RMSE y para validar la precisión numérica del pronóstico.</a:t>
            </a:r>
            <a:endParaRPr/>
          </a:p>
        </p:txBody>
      </p:sp>
      <p:sp>
        <p:nvSpPr>
          <p:cNvPr id="190" name="Google Shape;190;p19"/>
          <p:cNvSpPr txBox="1"/>
          <p:nvPr/>
        </p:nvSpPr>
        <p:spPr>
          <a:xfrm>
            <a:off x="904875" y="4824412"/>
            <a:ext cx="4905375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Métricas de Clasificación: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Accuracy, Precision, Recall y F1-score evaluarán la capacidad de asignación a categorías (Normal, Alta, Extrema).</a:t>
            </a:r>
            <a:endParaRPr/>
          </a:p>
        </p:txBody>
      </p:sp>
      <p:pic>
        <p:nvPicPr>
          <p:cNvPr id="191" name="Google Shape;191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2009775"/>
            <a:ext cx="5314950" cy="3790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3133725" y="4010769"/>
            <a:ext cx="232767" cy="1849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6250" y="2557462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76250" y="370998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1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76250" y="4862512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9"/>
          <p:cNvSpPr txBox="1"/>
          <p:nvPr/>
        </p:nvSpPr>
        <p:spPr>
          <a:xfrm>
            <a:off x="476250" y="476250"/>
            <a:ext cx="11715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Tecnologías de IA y Métricas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Google Shape;201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0"/>
          <p:cNvSpPr txBox="1"/>
          <p:nvPr/>
        </p:nvSpPr>
        <p:spPr>
          <a:xfrm>
            <a:off x="571500" y="876300"/>
            <a:ext cx="52006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Integración Geoespacial</a:t>
            </a:r>
            <a:endParaRPr/>
          </a:p>
        </p:txBody>
      </p:sp>
      <p:sp>
        <p:nvSpPr>
          <p:cNvPr id="203" name="Google Shape;203;p20"/>
          <p:cNvSpPr txBox="1"/>
          <p:nvPr/>
        </p:nvSpPr>
        <p:spPr>
          <a:xfrm>
            <a:off x="571500" y="2209800"/>
            <a:ext cx="520065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EAB308"/>
                </a:solidFill>
                <a:latin typeface="Merriweather"/>
                <a:ea typeface="Merriweather"/>
                <a:cs typeface="Merriweather"/>
                <a:sym typeface="Merriweather"/>
              </a:rPr>
              <a:t>De la Predicción al Mapa</a:t>
            </a:r>
            <a:endParaRPr/>
          </a:p>
        </p:txBody>
      </p:sp>
      <p:sp>
        <p:nvSpPr>
          <p:cNvPr id="204" name="Google Shape;204;p20"/>
          <p:cNvSpPr txBox="1"/>
          <p:nvPr/>
        </p:nvSpPr>
        <p:spPr>
          <a:xfrm>
            <a:off x="571500" y="2971800"/>
            <a:ext cx="4953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El valor agregado del proyecto radica en cruzar la predicción temporal del modelo de IA con la dimensión espacial de QGIS.</a:t>
            </a:r>
            <a:endParaRPr/>
          </a:p>
        </p:txBody>
      </p:sp>
      <p:sp>
        <p:nvSpPr>
          <p:cNvPr id="205" name="Google Shape;205;p20"/>
          <p:cNvSpPr txBox="1"/>
          <p:nvPr/>
        </p:nvSpPr>
        <p:spPr>
          <a:xfrm>
            <a:off x="571500" y="4267200"/>
            <a:ext cx="4953000" cy="152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Se utilizarán imágenes del satélite Landsat para estimar la Temperatura Superficial, permitiendo ubicar en qué coordenadas de Culiacán las temperaturas clasificadas como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"Altas" (35-39.9°C)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o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"Extremas" (≥40°C)</a:t>
            </a:r>
            <a:r>
              <a:rPr lang="en-US" sz="15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 golpearán con mayor severidad.</a:t>
            </a:r>
            <a:endParaRPr/>
          </a:p>
        </p:txBody>
      </p:sp>
      <p:pic>
        <p:nvPicPr>
          <p:cNvPr id="206" name="Google Shape;20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D43BF8-844E-0D7D-A7F7-3A96822EA0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62392" y="83146"/>
            <a:ext cx="5963216" cy="669170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1" name="Google Shape;211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76250" y="2124075"/>
            <a:ext cx="3555950" cy="3562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3" name="Google Shape;213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17950" y="2124075"/>
            <a:ext cx="3555950" cy="3562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4" name="Google Shape;214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59650" y="2124075"/>
            <a:ext cx="3555950" cy="3562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73150" y="25146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1"/>
          <p:cNvSpPr txBox="1"/>
          <p:nvPr/>
        </p:nvSpPr>
        <p:spPr>
          <a:xfrm>
            <a:off x="988992" y="3467100"/>
            <a:ext cx="2530316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Resolución Satelital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771525" y="3924300"/>
            <a:ext cx="296540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Las imágenes térmicas del satélite Landsat tienen una resolución de 30 metros por píxel, lo que impide ver variaciones a nivel de viviendas o calles individuales.</a:t>
            </a:r>
            <a:endParaRPr/>
          </a:p>
        </p:txBody>
      </p:sp>
      <p:pic>
        <p:nvPicPr>
          <p:cNvPr id="218" name="Google Shape;218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4851" y="25146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1"/>
          <p:cNvSpPr txBox="1"/>
          <p:nvPr/>
        </p:nvSpPr>
        <p:spPr>
          <a:xfrm>
            <a:off x="4560659" y="3467100"/>
            <a:ext cx="3070383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Interferencia por Nubes</a:t>
            </a:r>
            <a:endParaRPr/>
          </a:p>
        </p:txBody>
      </p:sp>
      <p:sp>
        <p:nvSpPr>
          <p:cNvPr id="220" name="Google Shape;220;p21"/>
          <p:cNvSpPr txBox="1"/>
          <p:nvPr/>
        </p:nvSpPr>
        <p:spPr>
          <a:xfrm>
            <a:off x="4613225" y="3924300"/>
            <a:ext cx="296540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La frecuencia de paso de 16 días del satélite significa que los periodos muy nublados reducirán drásticamente la cantidad de imágenes utilizables para el mapeo.</a:t>
            </a:r>
            <a:endParaRPr/>
          </a:p>
        </p:txBody>
      </p:sp>
      <p:pic>
        <p:nvPicPr>
          <p:cNvPr id="221" name="Google Shape;221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56551" y="2514600"/>
            <a:ext cx="762000" cy="762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1"/>
          <p:cNvSpPr txBox="1"/>
          <p:nvPr/>
        </p:nvSpPr>
        <p:spPr>
          <a:xfrm>
            <a:off x="8502372" y="3467100"/>
            <a:ext cx="2870358" cy="314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1" i="0" u="none" strike="noStrike" cap="none">
                <a:solidFill>
                  <a:srgbClr val="F8FAFC"/>
                </a:solidFill>
                <a:latin typeface="Merriweather"/>
                <a:ea typeface="Merriweather"/>
                <a:cs typeface="Merriweather"/>
                <a:sym typeface="Merriweather"/>
              </a:rPr>
              <a:t>Complejidad del Clima</a:t>
            </a:r>
            <a:endParaRPr/>
          </a:p>
        </p:txBody>
      </p:sp>
      <p:sp>
        <p:nvSpPr>
          <p:cNvPr id="223" name="Google Shape;223;p21"/>
          <p:cNvSpPr txBox="1"/>
          <p:nvPr/>
        </p:nvSpPr>
        <p:spPr>
          <a:xfrm>
            <a:off x="8454925" y="3924300"/>
            <a:ext cx="2965400" cy="137145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Al emplear algoritmos base, el modelo podría no capturar completamente la totalidad de los fenómenos macroclimáticos que impactan regionalmente.</a:t>
            </a:r>
            <a:endParaRPr/>
          </a:p>
        </p:txBody>
      </p:sp>
      <p:pic>
        <p:nvPicPr>
          <p:cNvPr id="224" name="Google Shape;224;p21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2082700" y="2724150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5" name="Google Shape;225;p21" descr="image.png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5881538" y="2724150"/>
            <a:ext cx="428625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1" descr="image.pn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9828014" y="2724150"/>
            <a:ext cx="219075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1"/>
          <p:cNvSpPr txBox="1"/>
          <p:nvPr/>
        </p:nvSpPr>
        <p:spPr>
          <a:xfrm>
            <a:off x="476250" y="476250"/>
            <a:ext cx="11715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Retos Técnicos y Limitaciones Conocidas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2"/>
          <p:cNvSpPr/>
          <p:nvPr/>
        </p:nvSpPr>
        <p:spPr>
          <a:xfrm>
            <a:off x="476250" y="4124325"/>
            <a:ext cx="112395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420052" y="4429125"/>
            <a:ext cx="236029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CD34D"/>
                </a:solidFill>
                <a:latin typeface="Merriweather"/>
                <a:ea typeface="Merriweather"/>
                <a:cs typeface="Merriweather"/>
                <a:sym typeface="Merriweather"/>
              </a:rPr>
              <a:t>Semanas 1-2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476250" y="4848225"/>
            <a:ext cx="22479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Recopilación y limpieza de datos (Open-Meteo).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2667952" y="2798564"/>
            <a:ext cx="236029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CD34D"/>
                </a:solidFill>
                <a:latin typeface="Merriweather"/>
                <a:ea typeface="Merriweather"/>
                <a:cs typeface="Merriweather"/>
                <a:sym typeface="Merriweather"/>
              </a:rPr>
              <a:t>Semana 3</a:t>
            </a:r>
            <a:endParaRPr/>
          </a:p>
        </p:txBody>
      </p:sp>
      <p:sp>
        <p:nvSpPr>
          <p:cNvPr id="237" name="Google Shape;237;p22"/>
          <p:cNvSpPr txBox="1"/>
          <p:nvPr/>
        </p:nvSpPr>
        <p:spPr>
          <a:xfrm>
            <a:off x="2724150" y="3217664"/>
            <a:ext cx="22479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Análisis Exploratorio y selección de variables.</a:t>
            </a:r>
            <a:endParaRPr/>
          </a:p>
        </p:txBody>
      </p:sp>
      <p:sp>
        <p:nvSpPr>
          <p:cNvPr id="238" name="Google Shape;238;p22"/>
          <p:cNvSpPr txBox="1"/>
          <p:nvPr/>
        </p:nvSpPr>
        <p:spPr>
          <a:xfrm>
            <a:off x="4915852" y="4429125"/>
            <a:ext cx="236029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CD34D"/>
                </a:solidFill>
                <a:latin typeface="Merriweather"/>
                <a:ea typeface="Merriweather"/>
                <a:cs typeface="Merriweather"/>
                <a:sym typeface="Merriweather"/>
              </a:rPr>
              <a:t>Semanas 4-5</a:t>
            </a:r>
            <a:endParaRPr/>
          </a:p>
        </p:txBody>
      </p:sp>
      <p:sp>
        <p:nvSpPr>
          <p:cNvPr id="239" name="Google Shape;239;p22"/>
          <p:cNvSpPr txBox="1"/>
          <p:nvPr/>
        </p:nvSpPr>
        <p:spPr>
          <a:xfrm>
            <a:off x="4972050" y="4848225"/>
            <a:ext cx="22479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Entrenamiento y evaluación de ML (Regresión vs RF).</a:t>
            </a:r>
            <a:endParaRPr/>
          </a:p>
        </p:txBody>
      </p:sp>
      <p:sp>
        <p:nvSpPr>
          <p:cNvPr id="240" name="Google Shape;240;p22"/>
          <p:cNvSpPr txBox="1"/>
          <p:nvPr/>
        </p:nvSpPr>
        <p:spPr>
          <a:xfrm>
            <a:off x="7163752" y="2798564"/>
            <a:ext cx="236029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CD34D"/>
                </a:solidFill>
                <a:latin typeface="Merriweather"/>
                <a:ea typeface="Merriweather"/>
                <a:cs typeface="Merriweather"/>
                <a:sym typeface="Merriweather"/>
              </a:rPr>
              <a:t>Semanas 6-7</a:t>
            </a:r>
            <a:endParaRPr/>
          </a:p>
        </p:txBody>
      </p:sp>
      <p:sp>
        <p:nvSpPr>
          <p:cNvPr id="241" name="Google Shape;241;p22"/>
          <p:cNvSpPr txBox="1"/>
          <p:nvPr/>
        </p:nvSpPr>
        <p:spPr>
          <a:xfrm>
            <a:off x="7219950" y="3217664"/>
            <a:ext cx="22479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Procesamiento Landsat e importación a QGIS.</a:t>
            </a:r>
            <a:endParaRPr/>
          </a:p>
        </p:txBody>
      </p:sp>
      <p:sp>
        <p:nvSpPr>
          <p:cNvPr id="242" name="Google Shape;242;p22"/>
          <p:cNvSpPr txBox="1"/>
          <p:nvPr/>
        </p:nvSpPr>
        <p:spPr>
          <a:xfrm>
            <a:off x="9411652" y="4429125"/>
            <a:ext cx="236029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CD34D"/>
                </a:solidFill>
                <a:latin typeface="Merriweather"/>
                <a:ea typeface="Merriweather"/>
                <a:cs typeface="Merriweather"/>
                <a:sym typeface="Merriweather"/>
              </a:rPr>
              <a:t>Semana 8</a:t>
            </a:r>
            <a:endParaRPr/>
          </a:p>
        </p:txBody>
      </p:sp>
      <p:sp>
        <p:nvSpPr>
          <p:cNvPr id="243" name="Google Shape;243;p22"/>
          <p:cNvSpPr txBox="1"/>
          <p:nvPr/>
        </p:nvSpPr>
        <p:spPr>
          <a:xfrm>
            <a:off x="9467850" y="4848225"/>
            <a:ext cx="2247900" cy="487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Generación de mapas finales y documentación.</a:t>
            </a:r>
            <a:endParaRPr/>
          </a:p>
        </p:txBody>
      </p:sp>
      <p:sp>
        <p:nvSpPr>
          <p:cNvPr id="244" name="Google Shape;244;p22"/>
          <p:cNvSpPr txBox="1"/>
          <p:nvPr/>
        </p:nvSpPr>
        <p:spPr>
          <a:xfrm>
            <a:off x="476250" y="476250"/>
            <a:ext cx="1171575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Plan de Desarrollo (8 Semanas)</a:t>
            </a:r>
            <a:endParaRPr/>
          </a:p>
        </p:txBody>
      </p:sp>
      <p:sp>
        <p:nvSpPr>
          <p:cNvPr id="245" name="Google Shape;245;p22"/>
          <p:cNvSpPr/>
          <p:nvPr/>
        </p:nvSpPr>
        <p:spPr>
          <a:xfrm>
            <a:off x="1485900" y="40290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3733800" y="40290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5981700" y="40290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22"/>
          <p:cNvSpPr/>
          <p:nvPr/>
        </p:nvSpPr>
        <p:spPr>
          <a:xfrm>
            <a:off x="8229600" y="40290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22"/>
          <p:cNvSpPr/>
          <p:nvPr/>
        </p:nvSpPr>
        <p:spPr>
          <a:xfrm>
            <a:off x="10477500" y="4029075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4" name="Google Shape;254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3"/>
          <p:cNvSpPr txBox="1"/>
          <p:nvPr/>
        </p:nvSpPr>
        <p:spPr>
          <a:xfrm>
            <a:off x="4110751" y="1516558"/>
            <a:ext cx="3970496" cy="866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EAB308"/>
                </a:solidFill>
                <a:latin typeface="Merriweather"/>
                <a:ea typeface="Merriweather"/>
                <a:cs typeface="Merriweather"/>
                <a:sym typeface="Merriweather"/>
              </a:rPr>
              <a:t>Conclusión</a:t>
            </a:r>
            <a:endParaRPr/>
          </a:p>
        </p:txBody>
      </p:sp>
      <p:sp>
        <p:nvSpPr>
          <p:cNvPr id="256" name="Google Shape;256;p23"/>
          <p:cNvSpPr txBox="1"/>
          <p:nvPr/>
        </p:nvSpPr>
        <p:spPr>
          <a:xfrm>
            <a:off x="2286000" y="2573833"/>
            <a:ext cx="7620000" cy="1462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CBD5E1"/>
                </a:solidFill>
                <a:latin typeface="DM Sans"/>
                <a:ea typeface="DM Sans"/>
                <a:cs typeface="DM Sans"/>
                <a:sym typeface="DM Sans"/>
              </a:rPr>
              <a:t>La integración de IA y SIG proporciona una solución de bajo costo y alta precisión para comprender la vulnerabilidad climática de Culiacán, aportando datos vitales para la planeación urbana sin requerir hardware físico.</a:t>
            </a:r>
            <a:endParaRPr/>
          </a:p>
        </p:txBody>
      </p:sp>
      <p:sp>
        <p:nvSpPr>
          <p:cNvPr id="257" name="Google Shape;257;p23"/>
          <p:cNvSpPr/>
          <p:nvPr/>
        </p:nvSpPr>
        <p:spPr>
          <a:xfrm>
            <a:off x="4191000" y="4417516"/>
            <a:ext cx="3810000" cy="1905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 txBox="1"/>
          <p:nvPr/>
        </p:nvSpPr>
        <p:spPr>
          <a:xfrm>
            <a:off x="3695700" y="4817566"/>
            <a:ext cx="48006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38BDF8"/>
                </a:solidFill>
                <a:latin typeface="Merriweather"/>
                <a:ea typeface="Merriweather"/>
                <a:cs typeface="Merriweather"/>
                <a:sym typeface="Merriweather"/>
              </a:rPr>
              <a:t>¿Preguntas sobre el protocolo?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DBEC524836F74F42A81390723EA9812D" ma:contentTypeVersion="4" ma:contentTypeDescription="Crear nuevo documento." ma:contentTypeScope="" ma:versionID="aad58b0099ee8e54d101f6b3dcc7f74e">
  <xsd:schema xmlns:xsd="http://www.w3.org/2001/XMLSchema" xmlns:xs="http://www.w3.org/2001/XMLSchema" xmlns:p="http://schemas.microsoft.com/office/2006/metadata/properties" xmlns:ns2="2462de62-ad96-4cc5-887d-2523d40a1621" targetNamespace="http://schemas.microsoft.com/office/2006/metadata/properties" ma:root="true" ma:fieldsID="c222cdc9cf8d30e6c87095a500d5d096" ns2:_="">
    <xsd:import namespace="2462de62-ad96-4cc5-887d-2523d40a1621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462de62-ad96-4cc5-887d-2523d40a1621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2462de62-ad96-4cc5-887d-2523d40a1621" xsi:nil="true"/>
  </documentManagement>
</p:properties>
</file>

<file path=customXml/itemProps1.xml><?xml version="1.0" encoding="utf-8"?>
<ds:datastoreItem xmlns:ds="http://schemas.openxmlformats.org/officeDocument/2006/customXml" ds:itemID="{0D5C3939-8CD1-41AB-BAC7-751792B5B91E}"/>
</file>

<file path=customXml/itemProps2.xml><?xml version="1.0" encoding="utf-8"?>
<ds:datastoreItem xmlns:ds="http://schemas.openxmlformats.org/officeDocument/2006/customXml" ds:itemID="{DF20DD21-9BF7-4815-B8B1-790F6BE0EFE1}"/>
</file>

<file path=customXml/itemProps3.xml><?xml version="1.0" encoding="utf-8"?>
<ds:datastoreItem xmlns:ds="http://schemas.openxmlformats.org/officeDocument/2006/customXml" ds:itemID="{340EADF0-6BFC-4565-A658-BB4534F29E8B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726</Words>
  <Application>Microsoft Office PowerPoint</Application>
  <PresentationFormat>Panorámica</PresentationFormat>
  <Paragraphs>74</Paragraphs>
  <Slides>11</Slides>
  <Notes>11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6" baseType="lpstr">
      <vt:lpstr>Calibri</vt:lpstr>
      <vt:lpstr>DM Sans</vt:lpstr>
      <vt:lpstr>Merriweather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EDGAR ALEXIS GUTIERREZ SANCHEZ</cp:lastModifiedBy>
  <cp:revision>3</cp:revision>
  <dcterms:modified xsi:type="dcterms:W3CDTF">2026-09-17T00:31:32Z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0x010100DBEC524836F74F42A81390723EA9812D</vt:lpwstr>
  </property>
</Properties>
</file>