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Presentarnos y decir el tema: optimizar las rutas de distribución desde 10 centros de distribución hacia 90 tiendas usando Recocido Simulado.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 esas dos decisiones depende cuántos kilómetros se recorren y cuánto se gasta en combustible. Influyen el tráfico, los plazos de entrega y que los productos son perecederos.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el abasto ocupa casi toda la capacidad, no siempre se puede mandar cada tienda a su centro más cercano. Por eso el programa decide al mismo tiempo a qué centro va cada tienda y el orden de visita.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 que buscamos es que las rutas sean lo más cortas posible y que se gaste lo menos posible en combustible. El ejemplo muestra cómo se suma el costo de una ruta con la matriz.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Recocido Simulado hace un cambio pequeño en cada paso. La Búsqueda Tabú revisa varios cambios por paso, se queda con el mejor y guarda una lista de movimientos prohibidos para no regresar a soluciones por las que ya pasó.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Aceptar a veces cambios peores, sobre todo al principio, sirve para no quedarse atorado en una solución que no es tan buena. Conforme baja la temperatura esa probabilidad baja.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cada paso se elige uno de estos tres cambios al azar. Los dibujos muestran la ruta antes (arriba) y después (abajo); en el 2-opt, la ruta cruzada se convierte en una sin cruces.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programa empezó con rutas al azar de 1,134.87 km y terminó con 247.14 km, con un costo de combustible de 37.07. Se usaron los 10 centros y ninguno pasó su capacidad.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centros que más tiendas atienden son el 9, el 5, el 4 y el 10. Casi todos quedan muy cerca de su capacidad máxima, lo que muestra que la capacidad sí limitó el reparto.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diferencia está en que el algoritmo también decide a qué centro va cada tienda. Cuando se asigna solo por cercanía, los centros cercanos se llenan y algunas tiendas terminan en centros que les quedan lejos.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Cerrar con lo que aprendimos y lo que se podría mejorar.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Agradecer y abrir preguntas.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14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2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09961"/>
            <a:ext cx="10566400" cy="413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1102320"/>
            <a:ext cx="10566400" cy="5028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3600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909961"/>
            <a:ext cx="10566400" cy="41352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bujo decorativo de rutas que salen de centros de distribución y pasan por varias tiendas">    </p:cNvPr>
          <p:cNvPicPr>
            <a:picLocks noChangeAspect="1"/>
          </p:cNvPicPr>
          <p:nvPr/>
        </p:nvPicPr>
        <p:blipFill>
          <a:blip r:embed="rId1"/>
          <a:srcRect l="0" r="0" t="-12" b="-12"/>
          <a:stretch/>
        </p:blipFill>
        <p:spPr>
          <a:xfrm>
            <a:off x="6350000" y="0"/>
            <a:ext cx="584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1318320"/>
            <a:ext cx="5537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07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TÓPICOS DE IA · INSTITUTO TECNOLÓGICO DE CULIACÁN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812800" y="1785640"/>
            <a:ext cx="5363210" cy="1945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4800" b="1" i="0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Optimización de rutas de distribución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812800" y="3959820"/>
            <a:ext cx="536321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E07A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 Recocido Simulado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825500" y="4604941"/>
            <a:ext cx="0" cy="934641"/>
          </a:xfrm>
          <a:prstGeom prst="line">
            <a:avLst/>
          </a:prstGeom>
          <a:noFill/>
          <a:ln w="25400">
            <a:solidFill>
              <a:srgbClr val="E07A2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16000" y="4630341"/>
            <a:ext cx="515391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Gutiérrez Sánchez Edgar Alexis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16000" y="4965601"/>
            <a:ext cx="515391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Alvarado Hernández Linda Esmeralda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16000" y="5300861"/>
            <a:ext cx="5153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Maestro: Zuriel Dathan Mora Félix · Octubre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01 · INTRODUCCIÓN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El problema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12553"/>
            <a:ext cx="10883392" cy="751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60"/>
              </a:lnSpc>
              <a:buNone/>
            </a:pPr>
            <a:r>
              <a:rPr lang="en-US" sz="2200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cadena de restaurantes en Culiacán, Sinaloa surte abarrotes a sus tiendas desde varios centros de distribución </a:t>
            </a:r>
            <a:r>
              <a:rPr lang="en-US" sz="2200" dirty="0">
                <a:solidFill>
                  <a:srgbClr val="B45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(CEDIS)</a:t>
            </a:r>
            <a:r>
              <a:rPr lang="en-US" sz="2200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815975" y="3149402"/>
            <a:ext cx="3380284" cy="1997571"/>
          </a:xfrm>
          <a:prstGeom prst="roundRect">
            <a:avLst>
              <a:gd name="adj" fmla="val 4927"/>
            </a:avLst>
          </a:prstGeom>
          <a:solidFill>
            <a:srgbClr val="FBFAF6"/>
          </a:solidFill>
          <a:ln w="6350">
            <a:solidFill>
              <a:srgbClr val="E1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3150" y="3381177"/>
            <a:ext cx="295191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14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1073150" y="4193977"/>
            <a:ext cx="295191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Centros de distribución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73150" y="4488557"/>
            <a:ext cx="295191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uno tiene una capacidad de almacenamiento limitada.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05809" y="3149402"/>
            <a:ext cx="3380383" cy="1997571"/>
          </a:xfrm>
          <a:prstGeom prst="roundRect">
            <a:avLst>
              <a:gd name="adj" fmla="val 4927"/>
            </a:avLst>
          </a:prstGeom>
          <a:solidFill>
            <a:srgbClr val="FBFAF6"/>
          </a:solidFill>
          <a:ln w="6350">
            <a:solidFill>
              <a:srgbClr val="E1DAC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2984" y="3381177"/>
            <a:ext cx="2952014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14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90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4662984" y="4193977"/>
            <a:ext cx="295201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Tiendas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2984" y="4488557"/>
            <a:ext cx="29520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tienda se visita una sola vez.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95741" y="3149402"/>
            <a:ext cx="3380284" cy="1997571"/>
          </a:xfrm>
          <a:prstGeom prst="roundRect">
            <a:avLst>
              <a:gd name="adj" fmla="val 4927"/>
            </a:avLst>
          </a:prstGeom>
          <a:solidFill>
            <a:srgbClr val="FBFAF6"/>
          </a:solidFill>
          <a:ln w="6350">
            <a:solidFill>
              <a:srgbClr val="E1DAC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52916" y="3381177"/>
            <a:ext cx="2951912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14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6000" dirty="0"/>
          </a:p>
        </p:txBody>
      </p:sp>
      <p:sp>
        <p:nvSpPr>
          <p:cNvPr id="15" name="Text 13"/>
          <p:cNvSpPr/>
          <p:nvPr/>
        </p:nvSpPr>
        <p:spPr>
          <a:xfrm>
            <a:off x="8252916" y="4193977"/>
            <a:ext cx="295191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Decisiones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52916" y="4488557"/>
            <a:ext cx="295191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qué centro va cada tienda y en qué orden se visitan.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5557540"/>
            <a:ext cx="113792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4A52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Hay demasiadas formas de armar las rutas para revisarlas una por una, por eso usamos un </a:t>
            </a:r>
            <a:r>
              <a:rPr lang="en-US" sz="16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método heurístico</a:t>
            </a:r>
            <a:r>
              <a:rPr lang="en-US" sz="1600" dirty="0">
                <a:solidFill>
                  <a:srgbClr val="4A52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5808" y="6179443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07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· PLANTEAMIENTO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Los datos con los que contamos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117824"/>
            <a:ext cx="3380284" cy="1880691"/>
          </a:xfrm>
          <a:prstGeom prst="roundRect">
            <a:avLst>
              <a:gd name="adj" fmla="val 5233"/>
            </a:avLst>
          </a:prstGeom>
          <a:solidFill>
            <a:srgbClr val="1D3150"/>
          </a:solidFill>
          <a:ln w="6350">
            <a:solidFill>
              <a:srgbClr val="2E4670"/>
            </a:solidFill>
            <a:prstDash val="solid"/>
          </a:ln>
        </p:spPr>
      </p:sp>
      <p:pic>
        <p:nvPicPr>
          <p:cNvPr id="5" name="Image 0" descr="Databas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3150" y="2349599"/>
            <a:ext cx="330200" cy="330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73150" y="2781399"/>
            <a:ext cx="295191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Tabla de distribución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073150" y="3126780"/>
            <a:ext cx="2951912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Ubicación y capacidad de almacenamiento de los 10 centros y las 90 tiendas.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405809" y="2117824"/>
            <a:ext cx="3380383" cy="1880691"/>
          </a:xfrm>
          <a:prstGeom prst="roundRect">
            <a:avLst>
              <a:gd name="adj" fmla="val 5233"/>
            </a:avLst>
          </a:prstGeom>
          <a:solidFill>
            <a:srgbClr val="1D3150"/>
          </a:solidFill>
          <a:ln w="6350">
            <a:solidFill>
              <a:srgbClr val="2E4670"/>
            </a:solidFill>
            <a:prstDash val="solid"/>
          </a:ln>
        </p:spPr>
      </p:sp>
      <p:pic>
        <p:nvPicPr>
          <p:cNvPr id="9" name="Image 1" descr="Glob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62984" y="2349599"/>
            <a:ext cx="330200" cy="330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662984" y="2781399"/>
            <a:ext cx="2952014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Matriz de distancias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4662984" y="3126780"/>
            <a:ext cx="295201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Kilómetros entre todos los puntos, de 0.12 a 27.35 km.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7995741" y="2117824"/>
            <a:ext cx="3380284" cy="1880691"/>
          </a:xfrm>
          <a:prstGeom prst="roundRect">
            <a:avLst>
              <a:gd name="adj" fmla="val 5233"/>
            </a:avLst>
          </a:prstGeom>
          <a:solidFill>
            <a:srgbClr val="1D3150"/>
          </a:solidFill>
          <a:ln w="6350">
            <a:solidFill>
              <a:srgbClr val="2E4670"/>
            </a:solidFill>
            <a:prstDash val="solid"/>
          </a:ln>
        </p:spPr>
      </p:sp>
      <p:pic>
        <p:nvPicPr>
          <p:cNvPr id="13" name="Image 2" descr="Lightni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52916" y="2349599"/>
            <a:ext cx="330200" cy="330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52916" y="2781399"/>
            <a:ext cx="2951912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Matriz de costos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8252916" y="3126780"/>
            <a:ext cx="295191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Costo de combustible de cada tramo: entre más largo, más cuesta.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12800" y="4511080"/>
            <a:ext cx="2009262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E07A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94.4 %</a:t>
            </a:r>
            <a:endParaRPr lang="en-US" sz="4800" dirty="0"/>
          </a:p>
        </p:txBody>
      </p:sp>
      <p:sp>
        <p:nvSpPr>
          <p:cNvPr id="17" name="Text 12"/>
          <p:cNvSpPr/>
          <p:nvPr/>
        </p:nvSpPr>
        <p:spPr>
          <a:xfrm>
            <a:off x="3017540" y="4541639"/>
            <a:ext cx="8612510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 la capacidad de los centros se ocupa si cada tienda pide el </a:t>
            </a:r>
            <a:r>
              <a:rPr lang="en-US" sz="1600" b="1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35 % de su capacidad</a:t>
            </a:r>
            <a:r>
              <a:rPr lang="en-US" sz="16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(nuestro supuesto, porque los datos no traen la demanda).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812800" y="5247680"/>
            <a:ext cx="10566400" cy="254000"/>
          </a:xfrm>
          <a:prstGeom prst="roundRect">
            <a:avLst>
              <a:gd name="adj" fmla="val 50000"/>
            </a:avLst>
          </a:prstGeom>
          <a:solidFill>
            <a:srgbClr val="2E4670"/>
          </a:solidFill>
          <a:ln/>
        </p:spPr>
      </p:sp>
      <p:sp>
        <p:nvSpPr>
          <p:cNvPr id="19" name="Shape 14"/>
          <p:cNvSpPr/>
          <p:nvPr/>
        </p:nvSpPr>
        <p:spPr>
          <a:xfrm>
            <a:off x="812800" y="5247680"/>
            <a:ext cx="10566400" cy="254000"/>
          </a:xfrm>
          <a:prstGeom prst="roundRect">
            <a:avLst>
              <a:gd name="adj" fmla="val 50000"/>
            </a:avLst>
          </a:prstGeom>
          <a:solidFill>
            <a:srgbClr val="E07A2E"/>
          </a:solidFill>
          <a:ln/>
        </p:spPr>
      </p:sp>
      <p:sp>
        <p:nvSpPr>
          <p:cNvPr id="20" name="Text 15"/>
          <p:cNvSpPr/>
          <p:nvPr/>
        </p:nvSpPr>
        <p:spPr>
          <a:xfrm>
            <a:off x="812800" y="5628680"/>
            <a:ext cx="30450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Piden las tiendas: 283,999 unidades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191778" y="5628680"/>
            <a:ext cx="31874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Capacidad de los 10 centros: 300,974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495808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02 · PLANTEAMIENTO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¿Cómo se calcula el costo?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13136"/>
            <a:ext cx="5073650" cy="2152650"/>
          </a:xfrm>
          <a:prstGeom prst="roundRect">
            <a:avLst>
              <a:gd name="adj" fmla="val 4572"/>
            </a:avLst>
          </a:prstGeom>
          <a:solidFill>
            <a:srgbClr val="FBFAF6"/>
          </a:solidFill>
          <a:ln w="6350">
            <a:solidFill>
              <a:srgbClr val="E1DACB"/>
            </a:solidFill>
            <a:prstDash val="solid"/>
          </a:ln>
        </p:spPr>
      </p:sp>
      <p:pic>
        <p:nvPicPr>
          <p:cNvPr id="5" name="Image 0" descr="Ejemplo de ruta: sale del CEDIS a la tienda A, luego a la tienda B y regresa al CEDI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909961"/>
            <a:ext cx="5080000" cy="2159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95400" y="3764161"/>
            <a:ext cx="812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CEDIS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3670300" y="2163961"/>
            <a:ext cx="1066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Tienda 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33900" y="3764161"/>
            <a:ext cx="939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Tienda B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879600" y="2798961"/>
            <a:ext cx="609600" cy="264120"/>
          </a:xfrm>
          <a:custGeom>
            <a:avLst/>
            <a:gdLst/>
            <a:ahLst/>
            <a:cxnLst/>
            <a:rect l="l" t="t" r="r" b="b"/>
            <a:pathLst>
              <a:path w="609600" h="264120">
                <a:moveTo>
                  <a:pt x="127000" y="0"/>
                </a:moveTo>
                <a:lnTo>
                  <a:pt x="482600" y="0"/>
                </a:lnTo>
                <a:arcTo hR="127000" wR="127000" stAng="16200000" swAng="5400000"/>
                <a:lnTo>
                  <a:pt x="609600" y="137120"/>
                </a:lnTo>
                <a:arcTo hR="127000" wR="127000" stAng="0" swAng="5400000"/>
                <a:lnTo>
                  <a:pt x="127000" y="26412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close/>
              </a:path>
            </a:pathLst>
          </a:custGeom>
          <a:solidFill>
            <a:srgbClr val="F3C9A6"/>
          </a:solidFill>
          <a:ln/>
        </p:spPr>
        <p:txBody>
          <a:bodyPr wrap="square" lIns="0" tIns="2540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0.30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43400" y="2798961"/>
            <a:ext cx="609600" cy="264120"/>
          </a:xfrm>
          <a:custGeom>
            <a:avLst/>
            <a:gdLst/>
            <a:ahLst/>
            <a:cxnLst/>
            <a:rect l="l" t="t" r="r" b="b"/>
            <a:pathLst>
              <a:path w="609600" h="264120">
                <a:moveTo>
                  <a:pt x="127000" y="0"/>
                </a:moveTo>
                <a:lnTo>
                  <a:pt x="482600" y="0"/>
                </a:lnTo>
                <a:arcTo hR="127000" wR="127000" stAng="16200000" swAng="5400000"/>
                <a:lnTo>
                  <a:pt x="609600" y="137120"/>
                </a:lnTo>
                <a:arcTo hR="127000" wR="127000" stAng="0" swAng="5400000"/>
                <a:lnTo>
                  <a:pt x="127000" y="26412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close/>
              </a:path>
            </a:pathLst>
          </a:custGeom>
          <a:solidFill>
            <a:srgbClr val="F3C9A6"/>
          </a:solidFill>
          <a:ln/>
        </p:spPr>
        <p:txBody>
          <a:bodyPr wrap="square" lIns="0" tIns="2540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0.45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048000" y="3573661"/>
            <a:ext cx="609600" cy="264120"/>
          </a:xfrm>
          <a:custGeom>
            <a:avLst/>
            <a:gdLst/>
            <a:ahLst/>
            <a:cxnLst/>
            <a:rect l="l" t="t" r="r" b="b"/>
            <a:pathLst>
              <a:path w="609600" h="264120">
                <a:moveTo>
                  <a:pt x="127000" y="0"/>
                </a:moveTo>
                <a:lnTo>
                  <a:pt x="482600" y="0"/>
                </a:lnTo>
                <a:arcTo hR="127000" wR="127000" stAng="16200000" swAng="5400000"/>
                <a:lnTo>
                  <a:pt x="609600" y="137120"/>
                </a:lnTo>
                <a:arcTo hR="127000" wR="127000" stAng="0" swAng="5400000"/>
                <a:lnTo>
                  <a:pt x="127000" y="264120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close/>
              </a:path>
            </a:pathLst>
          </a:custGeom>
          <a:solidFill>
            <a:srgbClr val="F3C9A6"/>
          </a:solidFill>
          <a:ln/>
        </p:spPr>
        <p:txBody>
          <a:bodyPr wrap="square" lIns="0" tIns="2540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0.60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12800" y="4195961"/>
            <a:ext cx="52324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0.30 + 0.45 + 0.60 = </a:t>
            </a:r>
            <a:r>
              <a:rPr lang="en-US" sz="16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1.35</a:t>
            </a:r>
            <a:r>
              <a:rPr lang="en-US" sz="1600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 combustible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12800" y="4607421"/>
            <a:ext cx="523240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costo se busca en la matriz de costos de combustible. El costo total es la suma de las 10 rutas, y los km se suman igual con la matriz de distancias.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6299200" y="1909961"/>
            <a:ext cx="5232400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B45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Reglas que se deben cumplir</a:t>
            </a:r>
            <a:endParaRPr lang="en-US" sz="1600" dirty="0"/>
          </a:p>
        </p:txBody>
      </p:sp>
      <p:pic>
        <p:nvPicPr>
          <p:cNvPr id="15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299200" y="2334022"/>
            <a:ext cx="279400" cy="2794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6705600" y="2331541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tienda se visita una sola vez.</a:t>
            </a:r>
            <a:endParaRPr lang="en-US" sz="1600" dirty="0"/>
          </a:p>
        </p:txBody>
      </p:sp>
      <p:pic>
        <p:nvPicPr>
          <p:cNvPr id="17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299200" y="2796282"/>
            <a:ext cx="279400" cy="27940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705600" y="2793802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ruta sale de un centro y regresa a él.</a:t>
            </a:r>
            <a:endParaRPr lang="en-US" sz="1600" dirty="0"/>
          </a:p>
        </p:txBody>
      </p:sp>
      <p:pic>
        <p:nvPicPr>
          <p:cNvPr id="19" name="Image 3" descr="CheckCircle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299200" y="3400822"/>
            <a:ext cx="279400" cy="2794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705600" y="3256062"/>
            <a:ext cx="481380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Lo que piden las tiendas no pasa la capacidad de su centro.</a:t>
            </a:r>
            <a:endParaRPr lang="en-US" sz="1600" dirty="0"/>
          </a:p>
        </p:txBody>
      </p:sp>
      <p:pic>
        <p:nvPicPr>
          <p:cNvPr id="21" name="Image 4" descr="CheckCircle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299200" y="4005262"/>
            <a:ext cx="279400" cy="2794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705600" y="4002782"/>
            <a:ext cx="481380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hay grupos de tiendas sueltos sin centro.</a:t>
            </a:r>
            <a:endParaRPr lang="en-US" sz="1600" dirty="0"/>
          </a:p>
        </p:txBody>
      </p:sp>
      <p:sp>
        <p:nvSpPr>
          <p:cNvPr id="23" name="Text 16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Problema de ruteo de vehículos con varios centros de salida (Montoya-Torres et al., 2015)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· MÉTODO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¿Recocido Simulado o Búsqueda Tabú?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1376025" y="1833761"/>
            <a:ext cx="0" cy="2678311"/>
          </a:xfrm>
          <a:prstGeom prst="line">
            <a:avLst/>
          </a:prstGeom>
          <a:noFill/>
          <a:ln w="6350">
            <a:solidFill>
              <a:srgbClr val="E1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4508897"/>
            <a:ext cx="10566400" cy="0"/>
          </a:xfrm>
          <a:prstGeom prst="line">
            <a:avLst/>
          </a:prstGeom>
          <a:noFill/>
          <a:ln w="6350">
            <a:solidFill>
              <a:srgbClr val="E1DACB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46461"/>
          <a:ext cx="10547350" cy="2659261"/>
        </p:xfrm>
        <a:graphic>
          <a:graphicData uri="http://schemas.openxmlformats.org/drawingml/2006/table">
            <a:tbl>
              <a:tblPr/>
              <a:tblGrid>
                <a:gridCol w="3164205"/>
                <a:gridCol w="3691572"/>
                <a:gridCol w="3691572"/>
              </a:tblGrid>
              <a:tr h="4749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Aspecto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E07A2E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Recocido Simulado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5F2EA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Búsqueda Tabú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3B"/>
                    </a:solidFill>
                  </a:tcPr>
                </a:tc>
              </a:tr>
              <a:tr h="4749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3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Trabajo en cada paso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3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Prueba un solo cambio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3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Prueba muchos cambios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20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4749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3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Memoria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3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No necesita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0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3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Lista de movimientos prohibidos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0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2"/>
                    </a:solidFill>
                  </a:tcPr>
                </a:tc>
              </a:tr>
              <a:tr h="47496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3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Facilidad de programar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3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Más sencillo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3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Más complicado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AF6"/>
                    </a:solidFill>
                  </a:tcPr>
                </a:tc>
              </a:tr>
              <a:tr h="759420"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3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Capacidad de los centros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4C1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3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Se descarta el cambio que no cumple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0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4233B"/>
                          </a:solidFill>
                          <a:latin typeface="DM Sans" pitchFamily="34" charset="0"/>
                          <a:ea typeface="DM Sans" pitchFamily="34" charset="-122"/>
                          <a:cs typeface="DM Sans" pitchFamily="34" charset="-120"/>
                        </a:rPr>
                        <a:t>Hay que revisar todos los cambios</a:t>
                      </a:r>
                      <a:endParaRPr lang="en-US" sz="1600" dirty="0">
                        <a:latin typeface="DM Sans" charset="0"/>
                        <a:ea typeface="DM Sans" charset="0"/>
                        <a:cs typeface="DM Sans" charset="0"/>
                      </a:endParaRPr>
                    </a:p>
                  </a:txBody>
                  <a:tcPr marL="152400" marR="152400" marT="88900" marB="88900" anchor="t">
                    <a:lnL w="12700" cap="flat" cmpd="sng" algn="ctr">
                      <a:solidFill>
                        <a:srgbClr val="C0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7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BC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CE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12800" y="4740672"/>
            <a:ext cx="10566400" cy="954881"/>
          </a:xfrm>
          <a:prstGeom prst="roundRect">
            <a:avLst>
              <a:gd name="adj" fmla="val 10640"/>
            </a:avLst>
          </a:prstGeom>
          <a:solidFill>
            <a:srgbClr val="14233B"/>
          </a:solidFill>
          <a:ln/>
        </p:spPr>
      </p:sp>
      <p:pic>
        <p:nvPicPr>
          <p:cNvPr id="8" name="Image 0" descr="ThumbsUp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66800" y="5040313"/>
            <a:ext cx="355600" cy="355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4943872"/>
            <a:ext cx="9810750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Escogimos </a:t>
            </a:r>
            <a:r>
              <a:rPr lang="en-US" sz="1600" b="1" dirty="0">
                <a:solidFill>
                  <a:srgbClr val="E07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Recocido Simulado</a:t>
            </a:r>
            <a:r>
              <a:rPr lang="en-US" sz="16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es más fácil de programar y ajustar, cada paso es rápido y la capacidad se maneja descartando los cambios que no cumplen.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812800" y="6238280"/>
            <a:ext cx="850265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Kirkpatrick et al. (1983) · Glover (1986)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07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· MÉTODO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¿Cómo funciona el algoritmo?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2002334"/>
            <a:ext cx="2292350" cy="1840012"/>
          </a:xfrm>
          <a:prstGeom prst="roundRect">
            <a:avLst>
              <a:gd name="adj" fmla="val 5349"/>
            </a:avLst>
          </a:prstGeom>
          <a:solidFill>
            <a:srgbClr val="1D3150"/>
          </a:solidFill>
          <a:ln w="6350">
            <a:solidFill>
              <a:srgbClr val="2E467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2350" y="2208709"/>
            <a:ext cx="193598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07A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2350" y="2676029"/>
            <a:ext cx="193598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Inicio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22350" y="2996009"/>
            <a:ext cx="193598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tienda va al azar a un centro con espacio, en orden al azar.</a:t>
            </a:r>
            <a:endParaRPr lang="en-US" sz="1200" dirty="0"/>
          </a:p>
        </p:txBody>
      </p:sp>
      <p:pic>
        <p:nvPicPr>
          <p:cNvPr id="8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13100" y="2846090"/>
            <a:ext cx="254000" cy="152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71875" y="2002334"/>
            <a:ext cx="2292350" cy="1840012"/>
          </a:xfrm>
          <a:prstGeom prst="roundRect">
            <a:avLst>
              <a:gd name="adj" fmla="val 5349"/>
            </a:avLst>
          </a:prstGeom>
          <a:solidFill>
            <a:srgbClr val="1D3150"/>
          </a:solidFill>
          <a:ln w="6350">
            <a:solidFill>
              <a:srgbClr val="2E467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778250" y="2208709"/>
            <a:ext cx="193598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07A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3778250" y="2676029"/>
            <a:ext cx="193598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Cambio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778250" y="2996009"/>
            <a:ext cx="193598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 hace un cambio pequeño en las rutas.</a:t>
            </a:r>
            <a:endParaRPr lang="en-US" sz="1200" dirty="0"/>
          </a:p>
        </p:txBody>
      </p:sp>
      <p:pic>
        <p:nvPicPr>
          <p:cNvPr id="13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69000" y="2846090"/>
            <a:ext cx="254000" cy="1524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327775" y="2002334"/>
            <a:ext cx="2292350" cy="1840012"/>
          </a:xfrm>
          <a:prstGeom prst="roundRect">
            <a:avLst>
              <a:gd name="adj" fmla="val 5349"/>
            </a:avLst>
          </a:prstGeom>
          <a:solidFill>
            <a:srgbClr val="1D3150"/>
          </a:solidFill>
          <a:ln w="6350">
            <a:solidFill>
              <a:srgbClr val="2E467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34150" y="2208709"/>
            <a:ext cx="193598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07A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6534150" y="2676029"/>
            <a:ext cx="193598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¿Se acepta?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6534150" y="2996009"/>
            <a:ext cx="193598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 mejora, sí. Si empeora, a veces, según la temperatura.</a:t>
            </a:r>
            <a:endParaRPr lang="en-US" sz="1200" dirty="0"/>
          </a:p>
        </p:txBody>
      </p:sp>
      <p:pic>
        <p:nvPicPr>
          <p:cNvPr id="18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724900" y="2846090"/>
            <a:ext cx="254000" cy="15240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9083675" y="2002334"/>
            <a:ext cx="2292350" cy="1840012"/>
          </a:xfrm>
          <a:prstGeom prst="roundRect">
            <a:avLst>
              <a:gd name="adj" fmla="val 5349"/>
            </a:avLst>
          </a:prstGeom>
          <a:solidFill>
            <a:srgbClr val="1D3150"/>
          </a:solidFill>
          <a:ln w="6350">
            <a:solidFill>
              <a:srgbClr val="2E4670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9290050" y="2208709"/>
            <a:ext cx="193598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07A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6"/>
          <p:cNvSpPr/>
          <p:nvPr/>
        </p:nvSpPr>
        <p:spPr>
          <a:xfrm>
            <a:off x="9290050" y="2676029"/>
            <a:ext cx="193598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Enfriar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9290050" y="2996009"/>
            <a:ext cx="1935988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La temperatura baja y se repite hasta que llega al mínimo.</a:t>
            </a:r>
            <a:endParaRPr lang="en-US" sz="1200" dirty="0"/>
          </a:p>
        </p:txBody>
      </p:sp>
      <p:pic>
        <p:nvPicPr>
          <p:cNvPr id="23" name="Image 3" descr="Curva de la temperatura bajando con el tiempo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4239419"/>
            <a:ext cx="5715000" cy="152400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511300" y="4277519"/>
            <a:ext cx="39243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07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Temperatura alta:</a:t>
            </a:r>
            <a:r>
              <a:rPr lang="en-US" sz="12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acepta más cambios malos para explorar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3797300" y="5128419"/>
            <a:ext cx="274701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FB0A4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Temperatura baja:</a:t>
            </a:r>
            <a:r>
              <a:rPr lang="en-US" sz="12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casi solo acepta mejoras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784975" y="4242594"/>
            <a:ext cx="4591050" cy="1596231"/>
          </a:xfrm>
          <a:prstGeom prst="roundRect">
            <a:avLst>
              <a:gd name="adj" fmla="val 6166"/>
            </a:avLst>
          </a:prstGeom>
          <a:solidFill>
            <a:srgbClr val="1D3150"/>
          </a:solidFill>
          <a:ln w="6350">
            <a:solidFill>
              <a:srgbClr val="2E4670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7016750" y="4448969"/>
            <a:ext cx="425132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Probabilidad de aceptar un cambio que alarga la ruta Δ km:</a:t>
            </a:r>
            <a:endParaRPr lang="en-US" sz="1200" dirty="0"/>
          </a:p>
        </p:txBody>
      </p:sp>
      <p:sp>
        <p:nvSpPr>
          <p:cNvPr id="28" name="Text 22"/>
          <p:cNvSpPr/>
          <p:nvPr/>
        </p:nvSpPr>
        <p:spPr>
          <a:xfrm>
            <a:off x="7016750" y="4951809"/>
            <a:ext cx="425132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E07A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e^(−Δ / T)</a:t>
            </a:r>
            <a:endParaRPr lang="en-US" sz="2200" dirty="0"/>
          </a:p>
        </p:txBody>
      </p:sp>
      <p:sp>
        <p:nvSpPr>
          <p:cNvPr id="29" name="Text 23"/>
          <p:cNvSpPr/>
          <p:nvPr/>
        </p:nvSpPr>
        <p:spPr>
          <a:xfrm>
            <a:off x="7016750" y="5419130"/>
            <a:ext cx="425132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Siempre se guarda la mejor solución encontrada.</a:t>
            </a:r>
            <a:endParaRPr lang="en-US" sz="1200" dirty="0"/>
          </a:p>
        </p:txBody>
      </p:sp>
      <p:sp>
        <p:nvSpPr>
          <p:cNvPr id="30" name="Text 24"/>
          <p:cNvSpPr/>
          <p:nvPr/>
        </p:nvSpPr>
        <p:spPr>
          <a:xfrm>
            <a:off x="812800" y="6238280"/>
            <a:ext cx="91567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Parámetros: temperatura inicial 100 · enfriamiento × 0.99 · 300 intentos por temperatura · mínima 0.001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03 · MÉTODO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Los tres tipos de cambio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5975" y="1946374"/>
            <a:ext cx="3380284" cy="2944912"/>
          </a:xfrm>
          <a:prstGeom prst="roundRect">
            <a:avLst>
              <a:gd name="adj" fmla="val 3342"/>
            </a:avLst>
          </a:prstGeom>
          <a:solidFill>
            <a:srgbClr val="FBFAF6"/>
          </a:solidFill>
          <a:ln w="6350">
            <a:solidFill>
              <a:srgbClr val="E1DACB"/>
            </a:solidFill>
            <a:prstDash val="solid"/>
          </a:ln>
        </p:spPr>
      </p:sp>
      <p:pic>
        <p:nvPicPr>
          <p:cNvPr id="5" name="Image 0" descr="Una tienda se saca de su lugar y se pone en otra posición de la ruta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750" y="2152749"/>
            <a:ext cx="2794000" cy="10795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47750" y="3333849"/>
            <a:ext cx="1270000" cy="477441"/>
          </a:xfrm>
          <a:custGeom>
            <a:avLst/>
            <a:gdLst/>
            <a:ahLst/>
            <a:cxnLst/>
            <a:rect l="l" t="t" r="r" b="b"/>
            <a:pathLst>
              <a:path w="1270000" h="477441">
                <a:moveTo>
                  <a:pt x="127000" y="0"/>
                </a:moveTo>
                <a:lnTo>
                  <a:pt x="1143000" y="0"/>
                </a:lnTo>
                <a:arcTo hR="127000" wR="127000" stAng="16200000" swAng="5400000"/>
                <a:lnTo>
                  <a:pt x="1270000" y="350441"/>
                </a:lnTo>
                <a:arcTo hR="127000" wR="127000" stAng="0" swAng="5400000"/>
                <a:lnTo>
                  <a:pt x="127000" y="477441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close/>
              </a:path>
            </a:pathLst>
          </a:custGeom>
          <a:solidFill>
            <a:srgbClr val="F3C9A6"/>
          </a:solidFill>
          <a:ln/>
        </p:spPr>
        <p:txBody>
          <a:bodyPr wrap="square" lIns="76200" tIns="25400" rIns="7620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40 % de las veces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47750" y="3912890"/>
            <a:ext cx="300423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Mover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47750" y="4258270"/>
            <a:ext cx="300423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Una tienda cambia de posición en su ruta o se pasa a otro centro.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405809" y="1946374"/>
            <a:ext cx="3380383" cy="2944912"/>
          </a:xfrm>
          <a:prstGeom prst="roundRect">
            <a:avLst>
              <a:gd name="adj" fmla="val 3342"/>
            </a:avLst>
          </a:prstGeom>
          <a:solidFill>
            <a:srgbClr val="FBFAF6"/>
          </a:solidFill>
          <a:ln w="6350">
            <a:solidFill>
              <a:srgbClr val="E1DACB"/>
            </a:solidFill>
            <a:prstDash val="solid"/>
          </a:ln>
        </p:spPr>
      </p:sp>
      <p:pic>
        <p:nvPicPr>
          <p:cNvPr id="10" name="Image 1" descr="Dos tiendas intercambian su lugar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637584" y="2152749"/>
            <a:ext cx="2794000" cy="1079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37584" y="3333849"/>
            <a:ext cx="1270000" cy="477441"/>
          </a:xfrm>
          <a:custGeom>
            <a:avLst/>
            <a:gdLst/>
            <a:ahLst/>
            <a:cxnLst/>
            <a:rect l="l" t="t" r="r" b="b"/>
            <a:pathLst>
              <a:path w="1270000" h="477441">
                <a:moveTo>
                  <a:pt x="127000" y="0"/>
                </a:moveTo>
                <a:lnTo>
                  <a:pt x="1143000" y="0"/>
                </a:lnTo>
                <a:arcTo hR="127000" wR="127000" stAng="16200000" swAng="5400000"/>
                <a:lnTo>
                  <a:pt x="1270000" y="350441"/>
                </a:lnTo>
                <a:arcTo hR="127000" wR="127000" stAng="0" swAng="5400000"/>
                <a:lnTo>
                  <a:pt x="127000" y="477441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close/>
              </a:path>
            </a:pathLst>
          </a:custGeom>
          <a:solidFill>
            <a:srgbClr val="F3C9A6"/>
          </a:solidFill>
          <a:ln/>
        </p:spPr>
        <p:txBody>
          <a:bodyPr wrap="square" lIns="76200" tIns="25400" rIns="7620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30 % de las veces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637584" y="3912890"/>
            <a:ext cx="3004338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Intercambiar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637584" y="4258270"/>
            <a:ext cx="300433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Dos tiendas cambian de lugar, aunque sean de centros distintos.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7995741" y="1946374"/>
            <a:ext cx="3380284" cy="2944912"/>
          </a:xfrm>
          <a:prstGeom prst="roundRect">
            <a:avLst>
              <a:gd name="adj" fmla="val 3342"/>
            </a:avLst>
          </a:prstGeom>
          <a:solidFill>
            <a:srgbClr val="FBFAF6"/>
          </a:solidFill>
          <a:ln w="6350">
            <a:solidFill>
              <a:srgbClr val="E1DACB"/>
            </a:solidFill>
            <a:prstDash val="solid"/>
          </a:ln>
        </p:spPr>
      </p:sp>
      <p:pic>
        <p:nvPicPr>
          <p:cNvPr id="15" name="Image 2" descr="Un tramo cruzado de la ruta se invierte y deja de cruzars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227516" y="2152749"/>
            <a:ext cx="2794000" cy="10795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227516" y="3333849"/>
            <a:ext cx="1270000" cy="477441"/>
          </a:xfrm>
          <a:custGeom>
            <a:avLst/>
            <a:gdLst/>
            <a:ahLst/>
            <a:cxnLst/>
            <a:rect l="l" t="t" r="r" b="b"/>
            <a:pathLst>
              <a:path w="1270000" h="477441">
                <a:moveTo>
                  <a:pt x="127000" y="0"/>
                </a:moveTo>
                <a:lnTo>
                  <a:pt x="1143000" y="0"/>
                </a:lnTo>
                <a:arcTo hR="127000" wR="127000" stAng="16200000" swAng="5400000"/>
                <a:lnTo>
                  <a:pt x="1270000" y="350441"/>
                </a:lnTo>
                <a:arcTo hR="127000" wR="127000" stAng="0" swAng="5400000"/>
                <a:lnTo>
                  <a:pt x="127000" y="477441"/>
                </a:lnTo>
                <a:arcTo hR="127000" wR="127000" stAng="5400000" swAng="5400000"/>
                <a:lnTo>
                  <a:pt x="0" y="127000"/>
                </a:lnTo>
                <a:arcTo hR="127000" wR="127000" stAng="10800000" swAng="5400000"/>
                <a:close/>
              </a:path>
            </a:pathLst>
          </a:custGeom>
          <a:solidFill>
            <a:srgbClr val="F3C9A6"/>
          </a:solidFill>
          <a:ln/>
        </p:spPr>
        <p:txBody>
          <a:bodyPr wrap="square" lIns="76200" tIns="25400" rIns="7620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30 % de las veces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227516" y="3912890"/>
            <a:ext cx="3004236" cy="269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Invertir un tramo (2-opt)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227516" y="4258270"/>
            <a:ext cx="3004236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 voltea una parte de la ruta para quitar cruces.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812800" y="5232400"/>
            <a:ext cx="10566400" cy="609600"/>
          </a:xfrm>
          <a:prstGeom prst="roundRect">
            <a:avLst>
              <a:gd name="adj" fmla="val 16667"/>
            </a:avLst>
          </a:prstGeom>
          <a:solidFill>
            <a:srgbClr val="14233B"/>
          </a:solidFill>
          <a:ln/>
        </p:spPr>
      </p:sp>
      <p:pic>
        <p:nvPicPr>
          <p:cNvPr id="20" name="Image 3" descr="Warni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41400" y="5384800"/>
            <a:ext cx="304800" cy="3048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98600" y="5394920"/>
            <a:ext cx="994156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Si con el cambio algún centro se pasa de su capacidad, ese cambio se descarta.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495808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07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· RESULTADOS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 rutas al azar a rutas optimizadas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616200"/>
            <a:ext cx="3455939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strike="sngStrike" dirty="0">
                <a:solidFill>
                  <a:srgbClr val="14233B">
                    <a:alpha val="5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1,134.87 km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2800" y="3276600"/>
            <a:ext cx="3455939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Rutas iniciales al azar</a:t>
            </a:r>
            <a:endParaRPr lang="en-US" sz="1200" dirty="0"/>
          </a:p>
        </p:txBody>
      </p:sp>
      <p:pic>
        <p:nvPicPr>
          <p:cNvPr id="6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72880" y="2887960"/>
            <a:ext cx="609600" cy="330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87280" y="2540000"/>
            <a:ext cx="3660636" cy="7874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14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247.14 km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5387280" y="3352800"/>
            <a:ext cx="36606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Rutas finales con Recocido Simulado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12800" y="4500959"/>
            <a:ext cx="3403600" cy="1341041"/>
          </a:xfrm>
          <a:prstGeom prst="roundRect">
            <a:avLst>
              <a:gd name="adj" fmla="val 7576"/>
            </a:avLst>
          </a:prstGeom>
          <a:solidFill>
            <a:srgbClr val="14233B"/>
          </a:solidFill>
          <a:ln/>
        </p:spPr>
      </p:sp>
      <p:sp>
        <p:nvSpPr>
          <p:cNvPr id="10" name="Text 7"/>
          <p:cNvSpPr/>
          <p:nvPr/>
        </p:nvSpPr>
        <p:spPr>
          <a:xfrm>
            <a:off x="1041400" y="4704159"/>
            <a:ext cx="30347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07A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$37.07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1041400" y="5212159"/>
            <a:ext cx="30347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Costo total de combustible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94200" y="4500959"/>
            <a:ext cx="3403600" cy="1341041"/>
          </a:xfrm>
          <a:prstGeom prst="roundRect">
            <a:avLst>
              <a:gd name="adj" fmla="val 7576"/>
            </a:avLst>
          </a:prstGeom>
          <a:solidFill>
            <a:srgbClr val="14233B"/>
          </a:solidFill>
          <a:ln/>
        </p:spPr>
      </p:sp>
      <p:sp>
        <p:nvSpPr>
          <p:cNvPr id="13" name="Text 10"/>
          <p:cNvSpPr/>
          <p:nvPr/>
        </p:nvSpPr>
        <p:spPr>
          <a:xfrm>
            <a:off x="4622800" y="4704159"/>
            <a:ext cx="30347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07A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78.2 %</a:t>
            </a:r>
            <a:endParaRPr lang="en-US" sz="3600" dirty="0"/>
          </a:p>
        </p:txBody>
      </p:sp>
      <p:sp>
        <p:nvSpPr>
          <p:cNvPr id="14" name="Text 11"/>
          <p:cNvSpPr/>
          <p:nvPr/>
        </p:nvSpPr>
        <p:spPr>
          <a:xfrm>
            <a:off x="4622800" y="5212159"/>
            <a:ext cx="30347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Menos kilómetros que al inicio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7975600" y="4500959"/>
            <a:ext cx="3403600" cy="1341041"/>
          </a:xfrm>
          <a:prstGeom prst="roundRect">
            <a:avLst>
              <a:gd name="adj" fmla="val 7576"/>
            </a:avLst>
          </a:prstGeom>
          <a:solidFill>
            <a:srgbClr val="14233B"/>
          </a:solidFill>
          <a:ln/>
        </p:spPr>
      </p:sp>
      <p:sp>
        <p:nvSpPr>
          <p:cNvPr id="16" name="Text 13"/>
          <p:cNvSpPr/>
          <p:nvPr/>
        </p:nvSpPr>
        <p:spPr>
          <a:xfrm>
            <a:off x="8204200" y="4704159"/>
            <a:ext cx="3034792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E07A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 de 10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8204200" y="5212159"/>
            <a:ext cx="303479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Centros usados, ninguno pasa su capacidad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5808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08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B45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· RESULTADOS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14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Resultados por centro de distribución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33761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Centro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917700" y="1833761"/>
            <a:ext cx="54940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Distancia de la ruta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509000" y="1833761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Tiendas · capacidad usada · costo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800" y="2123281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CEDIS 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917700" y="2134691"/>
            <a:ext cx="5334000" cy="190500"/>
          </a:xfrm>
          <a:prstGeom prst="roundRect">
            <a:avLst>
              <a:gd name="adj" fmla="val 20000"/>
            </a:avLst>
          </a:prstGeom>
          <a:solidFill>
            <a:srgbClr val="E9E4D8"/>
          </a:solidFill>
          <a:ln/>
        </p:spPr>
      </p:sp>
      <p:sp>
        <p:nvSpPr>
          <p:cNvPr id="9" name="Shape 7"/>
          <p:cNvSpPr/>
          <p:nvPr/>
        </p:nvSpPr>
        <p:spPr>
          <a:xfrm>
            <a:off x="1917700" y="2134691"/>
            <a:ext cx="1231900" cy="190500"/>
          </a:xfrm>
          <a:prstGeom prst="roundRect">
            <a:avLst>
              <a:gd name="adj" fmla="val 20000"/>
            </a:avLst>
          </a:prstGeom>
          <a:solidFill>
            <a:srgbClr val="2B8C83"/>
          </a:solidFill>
          <a:ln/>
        </p:spPr>
      </p:sp>
      <p:sp>
        <p:nvSpPr>
          <p:cNvPr id="10" name="Text 8"/>
          <p:cNvSpPr/>
          <p:nvPr/>
        </p:nvSpPr>
        <p:spPr>
          <a:xfrm>
            <a:off x="7404100" y="2123281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10.36 km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509000" y="2123281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 tiendas · 81.0 % · $1.55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12800" y="2412802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CEDIS 2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917700" y="2424212"/>
            <a:ext cx="5334000" cy="190500"/>
          </a:xfrm>
          <a:prstGeom prst="roundRect">
            <a:avLst>
              <a:gd name="adj" fmla="val 20000"/>
            </a:avLst>
          </a:prstGeom>
          <a:solidFill>
            <a:srgbClr val="E9E4D8"/>
          </a:solidFill>
          <a:ln/>
        </p:spPr>
      </p:sp>
      <p:sp>
        <p:nvSpPr>
          <p:cNvPr id="14" name="Shape 12"/>
          <p:cNvSpPr/>
          <p:nvPr/>
        </p:nvSpPr>
        <p:spPr>
          <a:xfrm>
            <a:off x="1917700" y="2424212"/>
            <a:ext cx="3327400" cy="190500"/>
          </a:xfrm>
          <a:prstGeom prst="roundRect">
            <a:avLst>
              <a:gd name="adj" fmla="val 20000"/>
            </a:avLst>
          </a:prstGeom>
          <a:solidFill>
            <a:srgbClr val="2B8C83"/>
          </a:solidFill>
          <a:ln/>
        </p:spPr>
      </p:sp>
      <p:sp>
        <p:nvSpPr>
          <p:cNvPr id="15" name="Text 13"/>
          <p:cNvSpPr/>
          <p:nvPr/>
        </p:nvSpPr>
        <p:spPr>
          <a:xfrm>
            <a:off x="7404100" y="2412802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28.02 km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09000" y="2412802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 tiendas · 97.1 % · $4.20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2702322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CEDIS 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917700" y="2713732"/>
            <a:ext cx="5334000" cy="190500"/>
          </a:xfrm>
          <a:prstGeom prst="roundRect">
            <a:avLst>
              <a:gd name="adj" fmla="val 20000"/>
            </a:avLst>
          </a:prstGeom>
          <a:solidFill>
            <a:srgbClr val="E9E4D8"/>
          </a:solidFill>
          <a:ln/>
        </p:spPr>
      </p:sp>
      <p:sp>
        <p:nvSpPr>
          <p:cNvPr id="19" name="Shape 17"/>
          <p:cNvSpPr/>
          <p:nvPr/>
        </p:nvSpPr>
        <p:spPr>
          <a:xfrm>
            <a:off x="1917700" y="2713732"/>
            <a:ext cx="1517650" cy="190500"/>
          </a:xfrm>
          <a:prstGeom prst="roundRect">
            <a:avLst>
              <a:gd name="adj" fmla="val 20000"/>
            </a:avLst>
          </a:prstGeom>
          <a:solidFill>
            <a:srgbClr val="2B8C83"/>
          </a:solidFill>
          <a:ln/>
        </p:spPr>
      </p:sp>
      <p:sp>
        <p:nvSpPr>
          <p:cNvPr id="20" name="Text 18"/>
          <p:cNvSpPr/>
          <p:nvPr/>
        </p:nvSpPr>
        <p:spPr>
          <a:xfrm>
            <a:off x="7404100" y="2702322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12.78 km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509000" y="2702322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tiendas · 75.6 % · $1.92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2991842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CEDIS 4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917700" y="3003252"/>
            <a:ext cx="5334000" cy="190500"/>
          </a:xfrm>
          <a:prstGeom prst="roundRect">
            <a:avLst>
              <a:gd name="adj" fmla="val 20000"/>
            </a:avLst>
          </a:prstGeom>
          <a:solidFill>
            <a:srgbClr val="E9E4D8"/>
          </a:solidFill>
          <a:ln/>
        </p:spPr>
      </p:sp>
      <p:sp>
        <p:nvSpPr>
          <p:cNvPr id="24" name="Shape 22"/>
          <p:cNvSpPr/>
          <p:nvPr/>
        </p:nvSpPr>
        <p:spPr>
          <a:xfrm>
            <a:off x="1917700" y="3003252"/>
            <a:ext cx="4038600" cy="190500"/>
          </a:xfrm>
          <a:prstGeom prst="roundRect">
            <a:avLst>
              <a:gd name="adj" fmla="val 20000"/>
            </a:avLst>
          </a:prstGeom>
          <a:solidFill>
            <a:srgbClr val="2B8C83"/>
          </a:solidFill>
          <a:ln/>
        </p:spPr>
      </p:sp>
      <p:sp>
        <p:nvSpPr>
          <p:cNvPr id="25" name="Text 23"/>
          <p:cNvSpPr/>
          <p:nvPr/>
        </p:nvSpPr>
        <p:spPr>
          <a:xfrm>
            <a:off x="7404100" y="2991842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34.03 km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9000" y="2991842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tiendas · 99.3 % · $5.11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12800" y="3281363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CEDIS 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917700" y="3292773"/>
            <a:ext cx="5334000" cy="190500"/>
          </a:xfrm>
          <a:prstGeom prst="roundRect">
            <a:avLst>
              <a:gd name="adj" fmla="val 20000"/>
            </a:avLst>
          </a:prstGeom>
          <a:solidFill>
            <a:srgbClr val="E9E4D8"/>
          </a:solidFill>
          <a:ln/>
        </p:spPr>
      </p:sp>
      <p:sp>
        <p:nvSpPr>
          <p:cNvPr id="29" name="Shape 27"/>
          <p:cNvSpPr/>
          <p:nvPr/>
        </p:nvSpPr>
        <p:spPr>
          <a:xfrm>
            <a:off x="1917700" y="3292773"/>
            <a:ext cx="4749800" cy="190500"/>
          </a:xfrm>
          <a:prstGeom prst="roundRect">
            <a:avLst>
              <a:gd name="adj" fmla="val 20000"/>
            </a:avLst>
          </a:prstGeom>
          <a:solidFill>
            <a:srgbClr val="2B8C83"/>
          </a:solidFill>
          <a:ln/>
        </p:spPr>
      </p:sp>
      <p:sp>
        <p:nvSpPr>
          <p:cNvPr id="30" name="Text 28"/>
          <p:cNvSpPr/>
          <p:nvPr/>
        </p:nvSpPr>
        <p:spPr>
          <a:xfrm>
            <a:off x="7404100" y="3281363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40.00 km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09000" y="3281363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16 tiendas · 99.4 % · $6.00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12800" y="3570883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CEDIS 6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917700" y="3582293"/>
            <a:ext cx="5334000" cy="190500"/>
          </a:xfrm>
          <a:prstGeom prst="roundRect">
            <a:avLst>
              <a:gd name="adj" fmla="val 20000"/>
            </a:avLst>
          </a:prstGeom>
          <a:solidFill>
            <a:srgbClr val="E9E4D8"/>
          </a:solidFill>
          <a:ln/>
        </p:spPr>
      </p:sp>
      <p:sp>
        <p:nvSpPr>
          <p:cNvPr id="34" name="Shape 32"/>
          <p:cNvSpPr/>
          <p:nvPr/>
        </p:nvSpPr>
        <p:spPr>
          <a:xfrm>
            <a:off x="1917700" y="3582293"/>
            <a:ext cx="273050" cy="190500"/>
          </a:xfrm>
          <a:prstGeom prst="roundRect">
            <a:avLst>
              <a:gd name="adj" fmla="val 20000"/>
            </a:avLst>
          </a:prstGeom>
          <a:solidFill>
            <a:srgbClr val="2B8C83"/>
          </a:solidFill>
          <a:ln/>
        </p:spPr>
      </p:sp>
      <p:sp>
        <p:nvSpPr>
          <p:cNvPr id="35" name="Text 33"/>
          <p:cNvSpPr/>
          <p:nvPr/>
        </p:nvSpPr>
        <p:spPr>
          <a:xfrm>
            <a:off x="7404100" y="3570883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2.30 km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09000" y="3570883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tiendas · 60.3 % · $0.35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12800" y="3860403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CEDIS 7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1917700" y="3871813"/>
            <a:ext cx="5334000" cy="190500"/>
          </a:xfrm>
          <a:prstGeom prst="roundRect">
            <a:avLst>
              <a:gd name="adj" fmla="val 20000"/>
            </a:avLst>
          </a:prstGeom>
          <a:solidFill>
            <a:srgbClr val="E9E4D8"/>
          </a:solidFill>
          <a:ln/>
        </p:spPr>
      </p:sp>
      <p:sp>
        <p:nvSpPr>
          <p:cNvPr id="39" name="Shape 37"/>
          <p:cNvSpPr/>
          <p:nvPr/>
        </p:nvSpPr>
        <p:spPr>
          <a:xfrm>
            <a:off x="1917700" y="3871813"/>
            <a:ext cx="1206500" cy="190500"/>
          </a:xfrm>
          <a:prstGeom prst="roundRect">
            <a:avLst>
              <a:gd name="adj" fmla="val 20000"/>
            </a:avLst>
          </a:prstGeom>
          <a:solidFill>
            <a:srgbClr val="2B8C83"/>
          </a:solidFill>
          <a:ln/>
        </p:spPr>
      </p:sp>
      <p:sp>
        <p:nvSpPr>
          <p:cNvPr id="40" name="Text 38"/>
          <p:cNvSpPr/>
          <p:nvPr/>
        </p:nvSpPr>
        <p:spPr>
          <a:xfrm>
            <a:off x="7404100" y="3860403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10.18 km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509000" y="3860403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 tiendas · 81.4 % · $1.53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812800" y="4149923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CEDIS 8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917700" y="4161334"/>
            <a:ext cx="5334000" cy="190500"/>
          </a:xfrm>
          <a:prstGeom prst="roundRect">
            <a:avLst>
              <a:gd name="adj" fmla="val 20000"/>
            </a:avLst>
          </a:prstGeom>
          <a:solidFill>
            <a:srgbClr val="E9E4D8"/>
          </a:solidFill>
          <a:ln/>
        </p:spPr>
      </p:sp>
      <p:sp>
        <p:nvSpPr>
          <p:cNvPr id="44" name="Shape 42"/>
          <p:cNvSpPr/>
          <p:nvPr/>
        </p:nvSpPr>
        <p:spPr>
          <a:xfrm>
            <a:off x="1917700" y="4161334"/>
            <a:ext cx="2692400" cy="190500"/>
          </a:xfrm>
          <a:prstGeom prst="roundRect">
            <a:avLst>
              <a:gd name="adj" fmla="val 20000"/>
            </a:avLst>
          </a:prstGeom>
          <a:solidFill>
            <a:srgbClr val="2B8C83"/>
          </a:solidFill>
          <a:ln/>
        </p:spPr>
      </p:sp>
      <p:sp>
        <p:nvSpPr>
          <p:cNvPr id="45" name="Text 43"/>
          <p:cNvSpPr/>
          <p:nvPr/>
        </p:nvSpPr>
        <p:spPr>
          <a:xfrm>
            <a:off x="7404100" y="4149923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22.68 km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509000" y="4149923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 tiendas · 98.2 % · $3.40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12800" y="4439444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CEDIS 9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917700" y="4450854"/>
            <a:ext cx="5334000" cy="190500"/>
          </a:xfrm>
          <a:prstGeom prst="roundRect">
            <a:avLst>
              <a:gd name="adj" fmla="val 20000"/>
            </a:avLst>
          </a:prstGeom>
          <a:solidFill>
            <a:srgbClr val="E9E4D8"/>
          </a:solidFill>
          <a:ln/>
        </p:spPr>
      </p:sp>
      <p:sp>
        <p:nvSpPr>
          <p:cNvPr id="49" name="Shape 47"/>
          <p:cNvSpPr/>
          <p:nvPr/>
        </p:nvSpPr>
        <p:spPr>
          <a:xfrm>
            <a:off x="1917700" y="4450854"/>
            <a:ext cx="4965700" cy="190500"/>
          </a:xfrm>
          <a:prstGeom prst="roundRect">
            <a:avLst>
              <a:gd name="adj" fmla="val 20000"/>
            </a:avLst>
          </a:prstGeom>
          <a:solidFill>
            <a:srgbClr val="2B8C83"/>
          </a:solidFill>
          <a:ln/>
        </p:spPr>
      </p:sp>
      <p:sp>
        <p:nvSpPr>
          <p:cNvPr id="50" name="Text 48"/>
          <p:cNvSpPr/>
          <p:nvPr/>
        </p:nvSpPr>
        <p:spPr>
          <a:xfrm>
            <a:off x="7404100" y="4439444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41.84 km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509000" y="4439444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18 tiendas · 99.3 % · $6.28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812800" y="4728964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CEDIS 10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1917700" y="4740374"/>
            <a:ext cx="5334000" cy="190500"/>
          </a:xfrm>
          <a:prstGeom prst="roundRect">
            <a:avLst>
              <a:gd name="adj" fmla="val 20000"/>
            </a:avLst>
          </a:prstGeom>
          <a:solidFill>
            <a:srgbClr val="E9E4D8"/>
          </a:solidFill>
          <a:ln/>
        </p:spPr>
      </p:sp>
      <p:sp>
        <p:nvSpPr>
          <p:cNvPr id="54" name="Shape 52"/>
          <p:cNvSpPr/>
          <p:nvPr/>
        </p:nvSpPr>
        <p:spPr>
          <a:xfrm>
            <a:off x="1917700" y="4740374"/>
            <a:ext cx="5334000" cy="190500"/>
          </a:xfrm>
          <a:prstGeom prst="roundRect">
            <a:avLst>
              <a:gd name="adj" fmla="val 20000"/>
            </a:avLst>
          </a:prstGeom>
          <a:solidFill>
            <a:srgbClr val="2B8C83"/>
          </a:solidFill>
          <a:ln/>
        </p:spPr>
      </p:sp>
      <p:sp>
        <p:nvSpPr>
          <p:cNvPr id="55" name="Text 53"/>
          <p:cNvSpPr/>
          <p:nvPr/>
        </p:nvSpPr>
        <p:spPr>
          <a:xfrm>
            <a:off x="7404100" y="4728964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4233B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44.94 km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8509000" y="4728964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14 tiendas · 99.7 % · $6.74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812800" y="5024834"/>
            <a:ext cx="10566400" cy="0"/>
          </a:xfrm>
          <a:prstGeom prst="line">
            <a:avLst/>
          </a:prstGeom>
          <a:noFill/>
          <a:ln w="12700">
            <a:solidFill>
              <a:srgbClr val="14233B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812800" y="5107384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Total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1917700" y="5107384"/>
            <a:ext cx="54940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4A526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Varios centros quedan arriba del 97 % de su capacidad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7404100" y="5107384"/>
            <a:ext cx="1003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247.14 km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8509000" y="5107384"/>
            <a:ext cx="274701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4561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90 tiendas · 94.4 % · $37.07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495808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A8F99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07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04 · EVALUACIÓN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¿Qué tan buena es la solución?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5363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Rutas iniciales al azar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800" y="2317750"/>
            <a:ext cx="6985000" cy="330200"/>
          </a:xfrm>
          <a:prstGeom prst="roundRect">
            <a:avLst>
              <a:gd name="adj" fmla="val 15385"/>
            </a:avLst>
          </a:prstGeom>
          <a:solidFill>
            <a:srgbClr val="4A5E80"/>
          </a:solidFill>
          <a:ln/>
        </p:spPr>
      </p:sp>
      <p:sp>
        <p:nvSpPr>
          <p:cNvPr id="6" name="Text 4"/>
          <p:cNvSpPr/>
          <p:nvPr/>
        </p:nvSpPr>
        <p:spPr>
          <a:xfrm>
            <a:off x="7950200" y="2340570"/>
            <a:ext cx="2032154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1,134.87 km · $170.23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282575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Cada tienda a su centro más cercano con espacio + orden optimizado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2800" y="3089870"/>
            <a:ext cx="2451100" cy="330200"/>
          </a:xfrm>
          <a:prstGeom prst="roundRect">
            <a:avLst>
              <a:gd name="adj" fmla="val 15385"/>
            </a:avLst>
          </a:prstGeom>
          <a:solidFill>
            <a:srgbClr val="8FA3BF"/>
          </a:solidFill>
          <a:ln/>
        </p:spPr>
      </p:sp>
      <p:sp>
        <p:nvSpPr>
          <p:cNvPr id="9" name="Text 7"/>
          <p:cNvSpPr/>
          <p:nvPr/>
        </p:nvSpPr>
        <p:spPr>
          <a:xfrm>
            <a:off x="3416300" y="3112691"/>
            <a:ext cx="1801397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398.12 km · $59.72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12800" y="359787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E07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Recocido Simulado (decide asignación y orden)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3861991"/>
            <a:ext cx="1524000" cy="330200"/>
          </a:xfrm>
          <a:prstGeom prst="roundRect">
            <a:avLst>
              <a:gd name="adj" fmla="val 15385"/>
            </a:avLst>
          </a:prstGeom>
          <a:solidFill>
            <a:srgbClr val="E07A2E"/>
          </a:solidFill>
          <a:ln/>
        </p:spPr>
      </p:sp>
      <p:sp>
        <p:nvSpPr>
          <p:cNvPr id="12" name="Text 10"/>
          <p:cNvSpPr/>
          <p:nvPr/>
        </p:nvSpPr>
        <p:spPr>
          <a:xfrm>
            <a:off x="2489200" y="3884811"/>
            <a:ext cx="1785352" cy="3098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07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247.14 km · $37.07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15975" y="4643834"/>
            <a:ext cx="10560050" cy="1194991"/>
          </a:xfrm>
          <a:prstGeom prst="roundRect">
            <a:avLst>
              <a:gd name="adj" fmla="val 8236"/>
            </a:avLst>
          </a:prstGeom>
          <a:solidFill>
            <a:srgbClr val="1D3150"/>
          </a:solidFill>
          <a:ln w="6350">
            <a:solidFill>
              <a:srgbClr val="2E46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73150" y="4936530"/>
            <a:ext cx="1896234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E07A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37.9 %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3168154" y="4824809"/>
            <a:ext cx="8189217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menos kilómetros que asignar por cercanía: 150.98 km y 22.65 de combustible menos.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168154" y="5444530"/>
            <a:ext cx="818921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 las semillas 1 a 5 salió entre 230.36 y 261.60 km, siempre mejor que por cercanía.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50" kern="0" dirty="0">
                <a:solidFill>
                  <a:srgbClr val="E07A2E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05 · CIERRE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60"/>
              </a:lnSpc>
              <a:buNone/>
            </a:pPr>
            <a:r>
              <a:rPr lang="en-US" sz="3600" b="1" i="0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09961"/>
            <a:ext cx="4318000" cy="3932039"/>
          </a:xfrm>
          <a:prstGeom prst="roundRect">
            <a:avLst>
              <a:gd name="adj" fmla="val 3230"/>
            </a:avLst>
          </a:prstGeom>
          <a:solidFill>
            <a:srgbClr val="E07A2E"/>
          </a:solidFill>
          <a:ln/>
        </p:spPr>
        <p:txBody>
          <a:bodyPr wrap="square" lIns="267603" tIns="267603" rIns="156351" bIns="267603" rtlCol="0" anchor="ctr">
            <a:normAutofit/>
          </a:bodyPr>
          <a:lstStyle/>
          <a:p>
            <a:pPr algn="l" indent="0" marL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14233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Cuando los centros tienen capacidad limitada, decidir a qué centro va cada tienda pesa tanto o más que el orden de las visitas.</a:t>
            </a:r>
            <a:endParaRPr lang="en-US" sz="2200" dirty="0"/>
          </a:p>
        </p:txBody>
      </p:sp>
      <p:pic>
        <p:nvPicPr>
          <p:cNvPr id="5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0" y="1909961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43600" y="1909961"/>
            <a:ext cx="5598668" cy="848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Rutas de </a:t>
            </a:r>
            <a:r>
              <a:rPr lang="en-US" sz="1600" b="1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247.14 km</a:t>
            </a:r>
            <a:r>
              <a:rPr lang="en-US" sz="16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para las 90 tiendas sin pasar la capacidad de ningún centro: casi 38 % menos que asignar por cercanía.</a:t>
            </a:r>
            <a:endParaRPr lang="en-US" sz="1600" dirty="0"/>
          </a:p>
        </p:txBody>
      </p:sp>
      <p:pic>
        <p:nvPicPr>
          <p:cNvPr id="7" name="Image 1" descr="Search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0" y="3601740"/>
            <a:ext cx="304800" cy="3048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43600" y="3601740"/>
            <a:ext cx="5598668" cy="5738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Hay que revisar bien los datos antes de usarlos: las coordenadas no coincidían con la matriz.</a:t>
            </a:r>
            <a:endParaRPr lang="en-US" sz="1600" dirty="0"/>
          </a:p>
        </p:txBody>
      </p:sp>
      <p:pic>
        <p:nvPicPr>
          <p:cNvPr id="9" name="Image 2" descr="Wrench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0" y="5019278"/>
            <a:ext cx="304800" cy="304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943600" y="5019278"/>
            <a:ext cx="5598668" cy="848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F5F2EA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Para mejorar: capacidad de los camiones, horarios de entrega, distancias reales por calle y probar varias semillas.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10058400" y="6238280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FA3B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Dibujo decorativo de rutas">    </p:cNvPr>
          <p:cNvPicPr>
            <a:picLocks noChangeAspect="1"/>
          </p:cNvPicPr>
          <p:nvPr/>
        </p:nvPicPr>
        <p:blipFill>
          <a:blip r:embed="rId1"/>
          <a:srcRect l="0" r="0" t="-12" b="-12"/>
          <a:stretch/>
        </p:blipFill>
        <p:spPr>
          <a:xfrm>
            <a:off x="6350000" y="0"/>
            <a:ext cx="5842000" cy="6858000"/>
          </a:xfrm>
          <a:prstGeom prst="rect">
            <a:avLst/>
          </a:prstGeom>
        </p:spPr>
      </p:pic>
      <p:sp>
        <p:nvSpPr>
          <p:cNvPr id="3" name="Text 0"/>
          <p:cNvSpPr/>
          <p:nvPr>
            <p:ph type="title"/>
          </p:nvPr>
        </p:nvSpPr>
        <p:spPr>
          <a:xfrm>
            <a:off x="812800" y="2385120"/>
            <a:ext cx="536321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i="0" dirty="0">
                <a:solidFill>
                  <a:srgbClr val="F5F2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¡Gracias!</a:t>
            </a:r>
            <a:endParaRPr lang="en-US" sz="6000" dirty="0"/>
          </a:p>
        </p:txBody>
      </p:sp>
      <p:sp>
        <p:nvSpPr>
          <p:cNvPr id="4" name="Text 1"/>
          <p:cNvSpPr/>
          <p:nvPr/>
        </p:nvSpPr>
        <p:spPr>
          <a:xfrm>
            <a:off x="812800" y="3350320"/>
            <a:ext cx="536321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E07A2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¿Preguntas?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825500" y="3944640"/>
            <a:ext cx="0" cy="528241"/>
          </a:xfrm>
          <a:prstGeom prst="line">
            <a:avLst/>
          </a:prstGeom>
          <a:noFill/>
          <a:ln w="25400">
            <a:solidFill>
              <a:srgbClr val="E07A2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16000" y="3970040"/>
            <a:ext cx="5153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Gutiérrez Sánchez Edgar Alexis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16000" y="4234160"/>
            <a:ext cx="515391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B9C6D6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Alvarado Hernández Linda Esmeralda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utas con Recocido Simulado">
  <a:themeElements>
    <a:clrScheme name="Rutas con Recocido Simulado">
      <a:dk1>
        <a:srgbClr val="14233B"/>
      </a:dk1>
      <a:lt1>
        <a:srgbClr val="F5F2EA"/>
      </a:lt1>
      <a:dk2>
        <a:srgbClr val="2B384D"/>
      </a:dk2>
      <a:lt2>
        <a:srgbClr val="BDBEBE"/>
      </a:lt2>
      <a:accent1>
        <a:srgbClr val="E07A2E"/>
      </a:accent1>
      <a:accent2>
        <a:srgbClr val="2B8C83"/>
      </a:accent2>
      <a:accent3>
        <a:srgbClr val="B4561A"/>
      </a:accent3>
      <a:accent4>
        <a:srgbClr val="F3C9A6"/>
      </a:accent4>
      <a:accent5>
        <a:srgbClr val="8FA3BF"/>
      </a:accent5>
      <a:accent6>
        <a:srgbClr val="2E4670"/>
      </a:accent6>
      <a:hlink>
        <a:srgbClr val="0563C1"/>
      </a:hlink>
      <a:folHlink>
        <a:srgbClr val="954F72"/>
      </a:folHlink>
    </a:clrScheme>
    <a:fontScheme name="Rutas con Recocido Simulado">
      <a:majorFont>
        <a:latin typeface="DM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DM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Rutas con Recocido Simulado</dc:title>
  <dc:subject/>
  <dc:creator/>
  <cp:lastModifiedBy/>
  <cp:revision>1</cp:revision>
  <dcterms:created xsi:type="dcterms:W3CDTF">2026-10-18T19:43:30Z</dcterms:created>
  <dcterms:modified xsi:type="dcterms:W3CDTF">2026-10-18T19:43:30Z</dcterms:modified>
</cp:coreProperties>
</file>